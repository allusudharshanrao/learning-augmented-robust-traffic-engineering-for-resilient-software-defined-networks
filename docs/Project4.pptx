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5" r:id="rId2"/>
  </p:sldMasterIdLst>
  <p:notesMasterIdLst>
    <p:notesMasterId r:id="rId27"/>
  </p:notesMasterIdLst>
  <p:handoutMasterIdLst>
    <p:handoutMasterId r:id="rId28"/>
  </p:handoutMasterIdLst>
  <p:sldIdLst>
    <p:sldId id="685" r:id="rId3"/>
    <p:sldId id="697" r:id="rId4"/>
    <p:sldId id="681" r:id="rId5"/>
    <p:sldId id="650" r:id="rId6"/>
    <p:sldId id="653" r:id="rId7"/>
    <p:sldId id="686" r:id="rId8"/>
    <p:sldId id="655" r:id="rId9"/>
    <p:sldId id="656" r:id="rId10"/>
    <p:sldId id="677" r:id="rId11"/>
    <p:sldId id="285" r:id="rId12"/>
    <p:sldId id="284" r:id="rId13"/>
    <p:sldId id="283" r:id="rId14"/>
    <p:sldId id="269" r:id="rId15"/>
    <p:sldId id="268" r:id="rId16"/>
    <p:sldId id="658" r:id="rId17"/>
    <p:sldId id="662" r:id="rId18"/>
    <p:sldId id="652" r:id="rId19"/>
    <p:sldId id="670" r:id="rId20"/>
    <p:sldId id="669" r:id="rId21"/>
    <p:sldId id="671" r:id="rId22"/>
    <p:sldId id="672" r:id="rId23"/>
    <p:sldId id="673" r:id="rId24"/>
    <p:sldId id="687" r:id="rId25"/>
    <p:sldId id="665" r:id="rId26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42"/>
    <a:srgbClr val="0228D6"/>
    <a:srgbClr val="570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17" autoAdjust="0"/>
    <p:restoredTop sz="94444" autoAdjust="0"/>
  </p:normalViewPr>
  <p:slideViewPr>
    <p:cSldViewPr snapToGrid="0" snapToObjects="1">
      <p:cViewPr varScale="1">
        <p:scale>
          <a:sx n="107" d="100"/>
          <a:sy n="107" d="100"/>
        </p:scale>
        <p:origin x="765" y="5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930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ky\Desktop\panace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Average Performance Ratio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Panacea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Sheet1!$B$1:$J$1</c:f>
              <c:strCache>
                <c:ptCount val="9"/>
                <c:pt idx="0">
                  <c:v>No failure</c:v>
                </c:pt>
                <c:pt idx="1">
                  <c:v>Failure 1</c:v>
                </c:pt>
                <c:pt idx="2">
                  <c:v>Failure 2</c:v>
                </c:pt>
                <c:pt idx="3">
                  <c:v>Failure 3</c:v>
                </c:pt>
                <c:pt idx="4">
                  <c:v>Failure 4</c:v>
                </c:pt>
                <c:pt idx="5">
                  <c:v>Failure 5</c:v>
                </c:pt>
                <c:pt idx="6">
                  <c:v>Failure 6</c:v>
                </c:pt>
                <c:pt idx="7">
                  <c:v>Failure 7</c:v>
                </c:pt>
                <c:pt idx="8">
                  <c:v>Failure 8</c:v>
                </c:pt>
              </c:strCache>
            </c:strRef>
          </c:cat>
          <c:val>
            <c:numRef>
              <c:f>Sheet1!$B$2:$J$2</c:f>
              <c:numCache>
                <c:formatCode>0.00%</c:formatCode>
                <c:ptCount val="9"/>
                <c:pt idx="0">
                  <c:v>0.97350000000000003</c:v>
                </c:pt>
                <c:pt idx="1">
                  <c:v>0.99660000000000004</c:v>
                </c:pt>
                <c:pt idx="2">
                  <c:v>0.93330000000000002</c:v>
                </c:pt>
                <c:pt idx="3">
                  <c:v>0.99590000000000001</c:v>
                </c:pt>
                <c:pt idx="4">
                  <c:v>0.96030000000000004</c:v>
                </c:pt>
                <c:pt idx="5">
                  <c:v>0.96840000000000004</c:v>
                </c:pt>
                <c:pt idx="6">
                  <c:v>0.99990000000000001</c:v>
                </c:pt>
                <c:pt idx="7">
                  <c:v>0.9698</c:v>
                </c:pt>
                <c:pt idx="8">
                  <c:v>0.97350000000000003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64-4350-B88B-32868415B95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Top-K Critical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Sheet1!$B$1:$J$1</c:f>
              <c:strCache>
                <c:ptCount val="9"/>
                <c:pt idx="0">
                  <c:v>No failure</c:v>
                </c:pt>
                <c:pt idx="1">
                  <c:v>Failure 1</c:v>
                </c:pt>
                <c:pt idx="2">
                  <c:v>Failure 2</c:v>
                </c:pt>
                <c:pt idx="3">
                  <c:v>Failure 3</c:v>
                </c:pt>
                <c:pt idx="4">
                  <c:v>Failure 4</c:v>
                </c:pt>
                <c:pt idx="5">
                  <c:v>Failure 5</c:v>
                </c:pt>
                <c:pt idx="6">
                  <c:v>Failure 6</c:v>
                </c:pt>
                <c:pt idx="7">
                  <c:v>Failure 7</c:v>
                </c:pt>
                <c:pt idx="8">
                  <c:v>Failure 8</c:v>
                </c:pt>
              </c:strCache>
            </c:strRef>
          </c:cat>
          <c:val>
            <c:numRef>
              <c:f>Sheet1!$B$3:$J$3</c:f>
              <c:numCache>
                <c:formatCode>0.00%</c:formatCode>
                <c:ptCount val="9"/>
                <c:pt idx="0">
                  <c:v>0.92420000000000002</c:v>
                </c:pt>
                <c:pt idx="1">
                  <c:v>0.98629999999999995</c:v>
                </c:pt>
                <c:pt idx="2">
                  <c:v>0.88100000000000001</c:v>
                </c:pt>
                <c:pt idx="3">
                  <c:v>0.99750000000000005</c:v>
                </c:pt>
                <c:pt idx="4">
                  <c:v>0.43149999999999999</c:v>
                </c:pt>
                <c:pt idx="5">
                  <c:v>0.51300000000000001</c:v>
                </c:pt>
                <c:pt idx="6">
                  <c:v>0.99990000000000001</c:v>
                </c:pt>
                <c:pt idx="7">
                  <c:v>0.92920000000000003</c:v>
                </c:pt>
                <c:pt idx="8">
                  <c:v>0.92410000000000003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64-4350-B88B-32868415B95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Top-K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Sheet1!$B$1:$J$1</c:f>
              <c:strCache>
                <c:ptCount val="9"/>
                <c:pt idx="0">
                  <c:v>No failure</c:v>
                </c:pt>
                <c:pt idx="1">
                  <c:v>Failure 1</c:v>
                </c:pt>
                <c:pt idx="2">
                  <c:v>Failure 2</c:v>
                </c:pt>
                <c:pt idx="3">
                  <c:v>Failure 3</c:v>
                </c:pt>
                <c:pt idx="4">
                  <c:v>Failure 4</c:v>
                </c:pt>
                <c:pt idx="5">
                  <c:v>Failure 5</c:v>
                </c:pt>
                <c:pt idx="6">
                  <c:v>Failure 6</c:v>
                </c:pt>
                <c:pt idx="7">
                  <c:v>Failure 7</c:v>
                </c:pt>
                <c:pt idx="8">
                  <c:v>Failure 8</c:v>
                </c:pt>
              </c:strCache>
            </c:strRef>
          </c:cat>
          <c:val>
            <c:numRef>
              <c:f>Sheet1!$B$4:$J$4</c:f>
              <c:numCache>
                <c:formatCode>0.00%</c:formatCode>
                <c:ptCount val="9"/>
                <c:pt idx="0">
                  <c:v>0.82530000000000003</c:v>
                </c:pt>
                <c:pt idx="1">
                  <c:v>0.95320000000000005</c:v>
                </c:pt>
                <c:pt idx="2">
                  <c:v>0.79320000000000002</c:v>
                </c:pt>
                <c:pt idx="3">
                  <c:v>0.99890000000000001</c:v>
                </c:pt>
                <c:pt idx="4">
                  <c:v>0.55640000000000001</c:v>
                </c:pt>
                <c:pt idx="5">
                  <c:v>0.42549999999999999</c:v>
                </c:pt>
                <c:pt idx="6">
                  <c:v>0.99980000000000002</c:v>
                </c:pt>
                <c:pt idx="7">
                  <c:v>0.84179999999999999</c:v>
                </c:pt>
                <c:pt idx="8">
                  <c:v>0.82530000000000003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64-4350-B88B-32868415B95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ECMP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Sheet1!$B$1:$J$1</c:f>
              <c:strCache>
                <c:ptCount val="9"/>
                <c:pt idx="0">
                  <c:v>No failure</c:v>
                </c:pt>
                <c:pt idx="1">
                  <c:v>Failure 1</c:v>
                </c:pt>
                <c:pt idx="2">
                  <c:v>Failure 2</c:v>
                </c:pt>
                <c:pt idx="3">
                  <c:v>Failure 3</c:v>
                </c:pt>
                <c:pt idx="4">
                  <c:v>Failure 4</c:v>
                </c:pt>
                <c:pt idx="5">
                  <c:v>Failure 5</c:v>
                </c:pt>
                <c:pt idx="6">
                  <c:v>Failure 6</c:v>
                </c:pt>
                <c:pt idx="7">
                  <c:v>Failure 7</c:v>
                </c:pt>
                <c:pt idx="8">
                  <c:v>Failure 8</c:v>
                </c:pt>
              </c:strCache>
            </c:strRef>
          </c:cat>
          <c:val>
            <c:numRef>
              <c:f>Sheet1!$B$5:$J$5</c:f>
              <c:numCache>
                <c:formatCode>0.00%</c:formatCode>
                <c:ptCount val="9"/>
                <c:pt idx="0">
                  <c:v>0.65169999999999995</c:v>
                </c:pt>
                <c:pt idx="1">
                  <c:v>0.86629999999999996</c:v>
                </c:pt>
                <c:pt idx="2">
                  <c:v>0.67230000000000001</c:v>
                </c:pt>
                <c:pt idx="3">
                  <c:v>0.98850000000000005</c:v>
                </c:pt>
                <c:pt idx="4">
                  <c:v>0.42470000000000002</c:v>
                </c:pt>
                <c:pt idx="5">
                  <c:v>0.40679999999999999</c:v>
                </c:pt>
                <c:pt idx="6">
                  <c:v>0.98970000000000002</c:v>
                </c:pt>
                <c:pt idx="7">
                  <c:v>0.65400000000000003</c:v>
                </c:pt>
                <c:pt idx="8">
                  <c:v>0.65169999999999995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64-4350-B88B-32868415B9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5632336"/>
        <c:axId val="632361224"/>
      </c:barChart>
      <c:catAx>
        <c:axId val="625632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2361224"/>
        <c:crosses val="autoZero"/>
        <c:auto val="1"/>
        <c:lblAlgn val="ctr"/>
        <c:lblOffset val="100"/>
        <c:noMultiLvlLbl val="0"/>
      </c:catAx>
      <c:valAx>
        <c:axId val="63236122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5632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F297294-BF70-494D-B295-944F010BCCFA}" type="datetimeFigureOut">
              <a:rPr lang="en-US" altLang="en-US"/>
              <a:pPr/>
              <a:t>5/19/2020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5A83C38-36DF-D243-9DA9-8D14D06BD0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8724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978821F-98DE-E241-8656-7F8BC651BDFF}" type="datetimeFigureOut">
              <a:rPr lang="en-US" altLang="en-US"/>
              <a:pPr/>
              <a:t>5/19/2020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B432E89-C0C2-A144-ACC0-E64B28FAC8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813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25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2290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-9144" y="0"/>
            <a:ext cx="9153144" cy="5143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1"/>
          </p:nvPr>
        </p:nvSpPr>
        <p:spPr>
          <a:xfrm>
            <a:off x="227752" y="1532443"/>
            <a:ext cx="3637261" cy="1811289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>
              <a:spcBef>
                <a:spcPts val="0"/>
              </a:spcBef>
              <a:defRPr sz="3000" b="1" i="0">
                <a:solidFill>
                  <a:schemeClr val="bg1"/>
                </a:solidFill>
                <a:latin typeface="Arial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27012" y="3718898"/>
            <a:ext cx="1783159" cy="3619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spcBef>
                <a:spcPts val="0"/>
              </a:spcBef>
              <a:defRPr sz="10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1028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53525" cy="5157788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8315325" y="2921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800"/>
          </a:p>
        </p:txBody>
      </p:sp>
      <p:pic>
        <p:nvPicPr>
          <p:cNvPr id="6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325" y="238125"/>
            <a:ext cx="1463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Placeholder 2"/>
          <p:cNvSpPr>
            <a:spLocks noGrp="1"/>
          </p:cNvSpPr>
          <p:nvPr>
            <p:ph idx="11"/>
          </p:nvPr>
        </p:nvSpPr>
        <p:spPr>
          <a:xfrm>
            <a:off x="0" y="0"/>
            <a:ext cx="4480560" cy="5156574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>
              <a:defRPr sz="3000" b="1">
                <a:solidFill>
                  <a:srgbClr val="FFFFFF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997268" y="1583857"/>
            <a:ext cx="3737844" cy="3131018"/>
          </a:xfrm>
          <a:prstGeom prst="rect">
            <a:avLst/>
          </a:prstGeom>
        </p:spPr>
        <p:txBody>
          <a:bodyPr vert="horz" lIns="0" tIns="0" rIns="0" bIns="0"/>
          <a:lstStyle>
            <a:lvl1pPr marL="0">
              <a:spcBef>
                <a:spcPts val="0"/>
              </a:spcBef>
              <a:defRPr sz="3000" b="1" i="0">
                <a:solidFill>
                  <a:srgbClr val="FFFFFF"/>
                </a:solidFill>
                <a:latin typeface="Arial"/>
                <a:cs typeface="Arial"/>
              </a:defRPr>
            </a:lvl1pPr>
            <a:lvl2pPr marL="0" indent="0">
              <a:spcBef>
                <a:spcPts val="0"/>
              </a:spcBef>
              <a:buNone/>
              <a:defRPr baseline="0"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02026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57200" y="1033153"/>
            <a:ext cx="3855533" cy="3681722"/>
          </a:xfrm>
          <a:prstGeom prst="rect">
            <a:avLst/>
          </a:prstGeom>
        </p:spPr>
        <p:txBody>
          <a:bodyPr vert="horz" lIns="0" tIns="0" rIns="0" bIns="0"/>
          <a:lstStyle>
            <a:lvl1pPr marL="0">
              <a:spcBef>
                <a:spcPts val="0"/>
              </a:spcBef>
              <a:defRPr sz="1800" b="1"/>
            </a:lvl1pPr>
            <a:lvl2pPr>
              <a:spcBef>
                <a:spcPts val="0"/>
              </a:spcBef>
              <a:defRPr sz="1800"/>
            </a:lvl2pPr>
            <a:lvl3pPr>
              <a:spcBef>
                <a:spcPts val="0"/>
              </a:spcBef>
              <a:defRPr sz="1800"/>
            </a:lvl3pPr>
            <a:lvl4pPr>
              <a:spcBef>
                <a:spcPts val="0"/>
              </a:spcBef>
              <a:defRPr sz="1800"/>
            </a:lvl4pPr>
            <a:lvl5pPr>
              <a:spcBef>
                <a:spcPts val="0"/>
              </a:spcBef>
              <a:defRPr sz="18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1"/>
          </p:nvPr>
        </p:nvSpPr>
        <p:spPr>
          <a:xfrm>
            <a:off x="4672577" y="712598"/>
            <a:ext cx="4480560" cy="443090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>
              <a:defRPr sz="30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057400" y="155449"/>
            <a:ext cx="6860053" cy="45555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r">
              <a:spcBef>
                <a:spcPts val="0"/>
              </a:spcBef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EA8ED20F-A43F-CC43-9057-E057F449EDA8}" type="datetime1">
              <a:rPr lang="en-US" altLang="en-US" smtClean="0"/>
              <a:t>5/19/2020</a:t>
            </a:fld>
            <a:endParaRPr lang="en-US" altLang="en-US"/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4E6F36B2-BB34-DD47-A830-2D2C54FAEB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255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368136" y="1045029"/>
            <a:ext cx="8449210" cy="3669846"/>
          </a:xfrm>
          <a:prstGeom prst="rect">
            <a:avLst/>
          </a:prstGeom>
        </p:spPr>
        <p:txBody>
          <a:bodyPr vert="horz" lIns="0" tIns="0" rIns="0" bIns="0"/>
          <a:lstStyle>
            <a:lvl1pPr marL="342900" indent="-342900">
              <a:spcBef>
                <a:spcPts val="1200"/>
              </a:spcBef>
              <a:spcAft>
                <a:spcPts val="300"/>
              </a:spcAft>
              <a:buFont typeface="Wingdings" panose="05000000000000000000" pitchFamily="2" charset="2"/>
              <a:buChar char="q"/>
              <a:defRPr sz="2000" b="0"/>
            </a:lvl1pPr>
            <a:lvl2pPr marL="628650" indent="-171450">
              <a:spcBef>
                <a:spcPts val="0"/>
              </a:spcBef>
              <a:buFont typeface="Wingdings" panose="05000000000000000000" pitchFamily="2" charset="2"/>
              <a:buChar char="v"/>
              <a:defRPr sz="2000"/>
            </a:lvl2pPr>
            <a:lvl3pPr marL="1085850" indent="-171450">
              <a:spcBef>
                <a:spcPts val="0"/>
              </a:spcBef>
              <a:buFont typeface="Wingdings" panose="05000000000000000000" pitchFamily="2" charset="2"/>
              <a:buChar char="§"/>
              <a:defRPr sz="2000"/>
            </a:lvl3pPr>
            <a:lvl4pPr>
              <a:spcBef>
                <a:spcPts val="0"/>
              </a:spcBef>
              <a:defRPr sz="2000"/>
            </a:lvl4pPr>
            <a:lvl5pPr>
              <a:spcBef>
                <a:spcPts val="0"/>
              </a:spcBef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5"/>
          </p:nvPr>
        </p:nvSpPr>
        <p:spPr>
          <a:xfrm>
            <a:off x="368136" y="4767263"/>
            <a:ext cx="2133600" cy="274637"/>
          </a:xfrm>
        </p:spPr>
        <p:txBody>
          <a:bodyPr/>
          <a:lstStyle>
            <a:lvl1pPr>
              <a:defRPr/>
            </a:lvl1pPr>
          </a:lstStyle>
          <a:p>
            <a:fld id="{66D1C6F8-925F-9B47-879E-BD9919BA5D32}" type="datetime1">
              <a:rPr lang="en-US" altLang="en-US" smtClean="0"/>
              <a:t>5/19/2020</a:t>
            </a:fld>
            <a:endParaRPr lang="en-US" altLang="en-US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>
            <a:lvl1pPr>
              <a:defRPr/>
            </a:lvl1pPr>
          </a:lstStyle>
          <a:p>
            <a:fld id="{A3D5D3D8-1F29-B74B-B3A0-A1F2C7DC88A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057400" y="155449"/>
            <a:ext cx="6860053" cy="45555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r">
              <a:spcBef>
                <a:spcPts val="0"/>
              </a:spcBef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103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368136" y="1045029"/>
            <a:ext cx="8449210" cy="366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368136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683746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2"/>
          </p:nvPr>
        </p:nvSpPr>
        <p:spPr>
          <a:xfrm>
            <a:off x="2057400" y="155449"/>
            <a:ext cx="6860053" cy="4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137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Content">
  <p:cSld name="Section Title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53525" cy="5157788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8315325" y="292100"/>
            <a:ext cx="18415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59325" y="238125"/>
            <a:ext cx="14636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80560" cy="51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2"/>
          </p:nvPr>
        </p:nvSpPr>
        <p:spPr>
          <a:xfrm>
            <a:off x="4997268" y="1583857"/>
            <a:ext cx="3737844" cy="313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7273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>
  <p:cSld name="Content and Imag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033153"/>
            <a:ext cx="3855533" cy="368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72577" y="712598"/>
            <a:ext cx="4480560" cy="44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3"/>
          </p:nvPr>
        </p:nvSpPr>
        <p:spPr>
          <a:xfrm>
            <a:off x="2057400" y="155449"/>
            <a:ext cx="6860053" cy="4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470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nyu_white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8" y="234950"/>
            <a:ext cx="6731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9153525" cy="712788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028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238125"/>
            <a:ext cx="1463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0D653044-96ED-0D48-BE0B-A8CF58D395E5}" type="datetime1">
              <a:rPr lang="en-US" altLang="en-US" smtClean="0"/>
              <a:t>5/19/2020</a:t>
            </a:fld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C07C389-29DD-CA42-B77B-9AEEAF2A2B5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1" r:id="rId3"/>
    <p:sldLayoutId id="2147483702" r:id="rId4"/>
  </p:sldLayoutIdLst>
  <p:hf hdr="0" ft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28650" indent="-1714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085850" indent="-1714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Courier New" charset="0"/>
        <a:buChar char="o"/>
        <a:defRPr sz="14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114550" indent="-285750" algn="l" defTabSz="457200" rtl="0" eaLnBrk="1" fontAlgn="base" hangingPunct="1">
        <a:spcBef>
          <a:spcPct val="20000"/>
        </a:spcBef>
        <a:spcAft>
          <a:spcPct val="0"/>
        </a:spcAft>
        <a:buFont typeface="Wingdings" charset="2"/>
        <a:buChar char="Ø"/>
        <a:defRPr sz="14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nyu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0188" y="234950"/>
            <a:ext cx="6731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0" y="0"/>
            <a:ext cx="9153525" cy="712788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3050" y="238125"/>
            <a:ext cx="14636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56554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67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1041400"/>
            <a:ext cx="4682236" cy="32004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71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0" y="1827550"/>
            <a:ext cx="4682236" cy="128771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1900">
                <a:latin typeface="Arial" charset="0"/>
                <a:ea typeface="ＭＳ Ｐゴシック" charset="-128"/>
              </a:rPr>
              <a:t>Panacea: Adaptive Traffic Engineering for Resilient Networks with Reinforcement Learning in SDN</a:t>
            </a:r>
            <a:endParaRPr lang="en-US" altLang="zh-CN" sz="1900" dirty="0">
              <a:latin typeface="Arial" charset="0"/>
              <a:ea typeface="ＭＳ Ｐゴシック" charset="-128"/>
            </a:endParaRPr>
          </a:p>
        </p:txBody>
      </p:sp>
      <p:sp>
        <p:nvSpPr>
          <p:cNvPr id="7172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546755" y="3261674"/>
            <a:ext cx="3599795" cy="61658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</a:pPr>
            <a:r>
              <a:rPr lang="en-US" altLang="zh-CN" sz="1600" err="1">
                <a:ea typeface="ＭＳ Ｐゴシック" charset="-128"/>
              </a:rPr>
              <a:t>Minghao</a:t>
            </a:r>
            <a:r>
              <a:rPr lang="en-US" altLang="zh-CN" sz="1600">
                <a:ea typeface="ＭＳ Ｐゴシック" charset="-128"/>
              </a:rPr>
              <a:t> Ye and Chen-Yu Yen</a:t>
            </a:r>
            <a:endParaRPr lang="en-US" altLang="zh-CN" sz="1600" dirty="0">
              <a:ea typeface="ＭＳ Ｐゴシック" charset="-128"/>
            </a:endParaRPr>
          </a:p>
          <a:p>
            <a:pPr marL="0" indent="0" algn="ctr" eaLnBrk="1" hangingPunct="1">
              <a:spcBef>
                <a:spcPct val="0"/>
              </a:spcBef>
            </a:pPr>
            <a:r>
              <a:rPr lang="en-US" altLang="zh-CN" sz="1600" dirty="0">
                <a:ea typeface="ＭＳ Ｐゴシック" charset="-128"/>
              </a:rPr>
              <a:t>ECE</a:t>
            </a:r>
            <a:r>
              <a:rPr lang="zh-CN" altLang="en-US" sz="1600" dirty="0">
                <a:ea typeface="ＭＳ Ｐゴシック" charset="-128"/>
              </a:rPr>
              <a:t> </a:t>
            </a:r>
            <a:r>
              <a:rPr lang="en-US" altLang="zh-CN" sz="1600" dirty="0">
                <a:ea typeface="ＭＳ Ｐゴシック" charset="-128"/>
              </a:rPr>
              <a:t>Department</a:t>
            </a:r>
          </a:p>
          <a:p>
            <a:pPr marL="0" indent="0" algn="ctr" eaLnBrk="1" hangingPunct="1">
              <a:spcBef>
                <a:spcPct val="0"/>
              </a:spcBef>
            </a:pPr>
            <a:r>
              <a:rPr lang="en-US" altLang="zh-CN" sz="1600">
                <a:ea typeface="ＭＳ Ｐゴシック" charset="-128"/>
              </a:rPr>
              <a:t>{my1706, cyy310}@</a:t>
            </a:r>
            <a:r>
              <a:rPr lang="en-US" altLang="zh-CN" sz="1600" dirty="0">
                <a:ea typeface="ＭＳ Ｐゴシック" charset="-128"/>
              </a:rPr>
              <a:t>nyu.edu</a:t>
            </a:r>
          </a:p>
          <a:p>
            <a:pPr marL="0" indent="0" algn="ctr" eaLnBrk="1" hangingPunct="1">
              <a:spcBef>
                <a:spcPct val="0"/>
              </a:spcBef>
            </a:pPr>
            <a:endParaRPr lang="en-US" altLang="zh-CN" sz="1800" dirty="0">
              <a:ea typeface="ＭＳ Ｐゴシック" charset="-128"/>
            </a:endParaRPr>
          </a:p>
        </p:txBody>
      </p:sp>
      <p:pic>
        <p:nvPicPr>
          <p:cNvPr id="7173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338263"/>
            <a:ext cx="14652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90F1738-3627-4851-B1E0-053B83B829EF}"/>
              </a:ext>
            </a:extLst>
          </p:cNvPr>
          <p:cNvSpPr txBox="1">
            <a:spLocks/>
          </p:cNvSpPr>
          <p:nvPr/>
        </p:nvSpPr>
        <p:spPr bwMode="auto">
          <a:xfrm>
            <a:off x="687494" y="1535861"/>
            <a:ext cx="3354666" cy="54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-342900" algn="l" defTabSz="457200" rtl="0" eaLnBrk="1" fontAlgn="base" hangingPunct="1">
              <a:spcBef>
                <a:spcPts val="0"/>
              </a:spcBef>
              <a:spcAft>
                <a:spcPct val="0"/>
              </a:spcAft>
              <a:buFont typeface="Arial" charset="0"/>
              <a:defRPr sz="3000" b="1" i="0" kern="1200">
                <a:solidFill>
                  <a:schemeClr val="bg1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  <a:lvl2pPr marL="628650" indent="-1714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2pPr>
            <a:lvl3pPr marL="1085850" indent="-1714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charset="0"/>
              <a:buChar char="o"/>
              <a:defRPr sz="140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4pPr>
            <a:lvl5pPr marL="21145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Ø"/>
              <a:defRPr sz="140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34290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ECE7363 Project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381385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4" y="989085"/>
            <a:ext cx="8037427" cy="3956988"/>
          </a:xfrm>
        </p:spPr>
        <p:txBody>
          <a:bodyPr/>
          <a:lstStyle/>
          <a:p>
            <a:r>
              <a:rPr lang="en-US" sz="1800" b="1" dirty="0"/>
              <a:t>Introduction and motivation</a:t>
            </a:r>
          </a:p>
          <a:p>
            <a:r>
              <a:rPr lang="en-US" sz="1800" b="1" dirty="0"/>
              <a:t>Project idea</a:t>
            </a:r>
            <a:endParaRPr lang="en-US" sz="1600" dirty="0"/>
          </a:p>
          <a:p>
            <a:r>
              <a:rPr lang="en-US" sz="1800" b="1" dirty="0"/>
              <a:t>Methodology</a:t>
            </a:r>
          </a:p>
          <a:p>
            <a:r>
              <a:rPr lang="en-US" sz="1800" b="1" dirty="0"/>
              <a:t>Evaluation Result</a:t>
            </a:r>
          </a:p>
          <a:p>
            <a:r>
              <a:rPr lang="en-US" sz="1800" b="1" dirty="0"/>
              <a:t>Conclusion and Future Works</a:t>
            </a: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856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Traffic Engineering (TE) and SDN</a:t>
            </a:r>
            <a:endParaRPr lang="en-US" dirty="0"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5" y="989086"/>
            <a:ext cx="8375791" cy="223116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b="1" dirty="0"/>
              <a:t>Traffic Engineering (TE)</a:t>
            </a:r>
            <a:r>
              <a:rPr lang="en-US" sz="1600" dirty="0"/>
              <a:t>: An important network operation for Internet Service Providers (ISPs) to optimize their networks</a:t>
            </a:r>
          </a:p>
          <a:p>
            <a:pPr lvl="1"/>
            <a:r>
              <a:rPr lang="en-US" sz="1500" dirty="0"/>
              <a:t>Methodology: controlling traffic distribution and configuring the routing</a:t>
            </a:r>
          </a:p>
          <a:p>
            <a:pPr lvl="1"/>
            <a:r>
              <a:rPr lang="en-US" sz="1500" dirty="0"/>
              <a:t>Goal: network performance (e.g. load balancing) &amp; resource utilization</a:t>
            </a:r>
          </a:p>
          <a:p>
            <a:pPr lvl="1"/>
            <a:r>
              <a:rPr lang="en-US" sz="1500" dirty="0"/>
              <a:t>Metric: The utilization of the most congested link, delay, etc.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Software-Defined Networking (SDN)</a:t>
            </a:r>
            <a:r>
              <a:rPr lang="en-US" sz="1600" dirty="0"/>
              <a:t> provides opportunities for </a:t>
            </a:r>
            <a:r>
              <a:rPr lang="en-US" sz="1600" dirty="0">
                <a:solidFill>
                  <a:srgbClr val="FF0000"/>
                </a:solidFill>
              </a:rPr>
              <a:t>fine-grained per-flow routing</a:t>
            </a:r>
            <a:r>
              <a:rPr lang="en-US" sz="1600" dirty="0"/>
              <a:t> based on its global view of </a:t>
            </a:r>
            <a:r>
              <a:rPr lang="en-US" sz="1600"/>
              <a:t>the network</a:t>
            </a:r>
            <a:endParaRPr lang="en-US" sz="1600" dirty="0"/>
          </a:p>
          <a:p>
            <a:pPr lvl="1"/>
            <a:r>
              <a:rPr lang="en-US" sz="1500" dirty="0"/>
              <a:t>The control plane can generate and deploy deliberate routing policies for different flows at the SDN switches.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8F74703-30FF-4F9E-8B65-6B17781595F0}"/>
              </a:ext>
            </a:extLst>
          </p:cNvPr>
          <p:cNvGrpSpPr>
            <a:grpSpLocks/>
          </p:cNvGrpSpPr>
          <p:nvPr/>
        </p:nvGrpSpPr>
        <p:grpSpPr bwMode="auto">
          <a:xfrm>
            <a:off x="1199622" y="3346831"/>
            <a:ext cx="2744459" cy="1615165"/>
            <a:chOff x="1016" y="2174"/>
            <a:chExt cx="3670" cy="1863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63B155C-3246-42F3-A297-0F7705A7D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9" y="2991"/>
              <a:ext cx="181" cy="159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8B17331-525B-4517-BFD5-052AB2F2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2" y="3414"/>
              <a:ext cx="181" cy="159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C9ECB1F-81B8-4D93-BF32-D0553EFFE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2" y="2621"/>
              <a:ext cx="181" cy="158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1D8C600-A67C-44D9-AD79-0EFFE8943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3044"/>
              <a:ext cx="181" cy="159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C7333E4-D7AB-4915-83E1-850755435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414"/>
              <a:ext cx="181" cy="159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AFD8F35-A236-4345-8FB5-5AAAFA765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621"/>
              <a:ext cx="181" cy="158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672DD23-7B23-401E-B5D7-078C35514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" y="3732"/>
              <a:ext cx="181" cy="159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D9C9358-0AE2-47CD-B372-36F2C1EBC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1" y="2991"/>
              <a:ext cx="181" cy="159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Line 11">
              <a:extLst>
                <a:ext uri="{FF2B5EF4-FFF2-40B4-BE49-F238E27FC236}">
                  <a16:creationId xmlns:a16="http://schemas.microsoft.com/office/drawing/2014/main" id="{63D7AFC2-8ABD-47F7-BAD5-E52796FD7B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0" y="2726"/>
              <a:ext cx="422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5" name="Line 12">
              <a:extLst>
                <a:ext uri="{FF2B5EF4-FFF2-40B4-BE49-F238E27FC236}">
                  <a16:creationId xmlns:a16="http://schemas.microsoft.com/office/drawing/2014/main" id="{909BC8BA-2C7E-4292-A176-0739F4B6D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9" y="3132"/>
              <a:ext cx="393" cy="335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6" name="Line 13">
              <a:extLst>
                <a:ext uri="{FF2B5EF4-FFF2-40B4-BE49-F238E27FC236}">
                  <a16:creationId xmlns:a16="http://schemas.microsoft.com/office/drawing/2014/main" id="{205CD93B-EA92-49CD-A99A-C633F5E93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3" y="2735"/>
              <a:ext cx="362" cy="3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7" name="Line 14">
              <a:extLst>
                <a:ext uri="{FF2B5EF4-FFF2-40B4-BE49-F238E27FC236}">
                  <a16:creationId xmlns:a16="http://schemas.microsoft.com/office/drawing/2014/main" id="{ACE5A15A-8B06-4BF6-B150-B76D61DAA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3" y="3520"/>
              <a:ext cx="452" cy="2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8" name="Line 15">
              <a:extLst>
                <a:ext uri="{FF2B5EF4-FFF2-40B4-BE49-F238E27FC236}">
                  <a16:creationId xmlns:a16="http://schemas.microsoft.com/office/drawing/2014/main" id="{B4AC1D5A-8D4B-4188-9938-7C33FA7FE1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3" y="3176"/>
              <a:ext cx="402" cy="265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9" name="Line 16">
              <a:extLst>
                <a:ext uri="{FF2B5EF4-FFF2-40B4-BE49-F238E27FC236}">
                  <a16:creationId xmlns:a16="http://schemas.microsoft.com/office/drawing/2014/main" id="{D8371FF8-B59A-47D5-9978-9861EE75F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6" y="3185"/>
              <a:ext cx="412" cy="247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0" name="Line 17">
              <a:extLst>
                <a:ext uri="{FF2B5EF4-FFF2-40B4-BE49-F238E27FC236}">
                  <a16:creationId xmlns:a16="http://schemas.microsoft.com/office/drawing/2014/main" id="{B33F0CCF-8467-471F-A8C6-AB72A12182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6" y="3547"/>
              <a:ext cx="372" cy="2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1" name="Line 18">
              <a:extLst>
                <a:ext uri="{FF2B5EF4-FFF2-40B4-BE49-F238E27FC236}">
                  <a16:creationId xmlns:a16="http://schemas.microsoft.com/office/drawing/2014/main" id="{E24A4968-B4F3-4156-9D82-CD65890C3B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6" y="3070"/>
              <a:ext cx="965" cy="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2" name="Line 19">
              <a:extLst>
                <a:ext uri="{FF2B5EF4-FFF2-40B4-BE49-F238E27FC236}">
                  <a16:creationId xmlns:a16="http://schemas.microsoft.com/office/drawing/2014/main" id="{BA5A0E6E-7CCF-4F60-A83C-0DE76C933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3" y="2691"/>
              <a:ext cx="865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3" name="Line 20">
              <a:extLst>
                <a:ext uri="{FF2B5EF4-FFF2-40B4-BE49-F238E27FC236}">
                  <a16:creationId xmlns:a16="http://schemas.microsoft.com/office/drawing/2014/main" id="{F3360E54-6A67-4149-AC3F-EB1D0184C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2753"/>
              <a:ext cx="483" cy="2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57B58F8-F4D5-4D53-A171-7C903D049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352"/>
              <a:ext cx="2897" cy="168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Line 32">
              <a:extLst>
                <a:ext uri="{FF2B5EF4-FFF2-40B4-BE49-F238E27FC236}">
                  <a16:creationId xmlns:a16="http://schemas.microsoft.com/office/drawing/2014/main" id="{7B3C5101-B802-473A-921D-8E4845F884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55" y="2868"/>
              <a:ext cx="604" cy="185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6" name="Line 33">
              <a:extLst>
                <a:ext uri="{FF2B5EF4-FFF2-40B4-BE49-F238E27FC236}">
                  <a16:creationId xmlns:a16="http://schemas.microsoft.com/office/drawing/2014/main" id="{329F209D-A810-4676-8E26-7237D298FB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5" y="3123"/>
              <a:ext cx="634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7" name="Line 34">
              <a:extLst>
                <a:ext uri="{FF2B5EF4-FFF2-40B4-BE49-F238E27FC236}">
                  <a16:creationId xmlns:a16="http://schemas.microsoft.com/office/drawing/2014/main" id="{EB94FFAC-8A13-45E9-BCB8-21B2736D8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3494"/>
              <a:ext cx="1016" cy="44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8" name="Line 35">
              <a:extLst>
                <a:ext uri="{FF2B5EF4-FFF2-40B4-BE49-F238E27FC236}">
                  <a16:creationId xmlns:a16="http://schemas.microsoft.com/office/drawing/2014/main" id="{B6FD0B4F-DB5E-4C76-9B7B-6296E45B2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3556"/>
              <a:ext cx="704" cy="2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9" name="Line 36">
              <a:extLst>
                <a:ext uri="{FF2B5EF4-FFF2-40B4-BE49-F238E27FC236}">
                  <a16:creationId xmlns:a16="http://schemas.microsoft.com/office/drawing/2014/main" id="{0E371867-CA08-40D0-BC8A-38C8D97579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52" y="2902"/>
              <a:ext cx="634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0" name="Line 37">
              <a:extLst>
                <a:ext uri="{FF2B5EF4-FFF2-40B4-BE49-F238E27FC236}">
                  <a16:creationId xmlns:a16="http://schemas.microsoft.com/office/drawing/2014/main" id="{5F95E80C-6245-4EAD-8312-34CE46E07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7" y="2174"/>
              <a:ext cx="362" cy="4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1" name="Line 38">
              <a:extLst>
                <a:ext uri="{FF2B5EF4-FFF2-40B4-BE49-F238E27FC236}">
                  <a16:creationId xmlns:a16="http://schemas.microsoft.com/office/drawing/2014/main" id="{FB4E3EF3-917F-4794-BF32-F0A88DFD59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2" y="3527"/>
              <a:ext cx="577" cy="3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FF66B2E2-743D-4C7B-B2D5-53CCB2412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3020"/>
              <a:ext cx="3327" cy="978"/>
            </a:xfrm>
            <a:custGeom>
              <a:avLst/>
              <a:gdLst>
                <a:gd name="T0" fmla="*/ 0 w 3327"/>
                <a:gd name="T1" fmla="*/ 0 h 978"/>
                <a:gd name="T2" fmla="*/ 130 w 3327"/>
                <a:gd name="T3" fmla="*/ 32 h 978"/>
                <a:gd name="T4" fmla="*/ 628 w 3327"/>
                <a:gd name="T5" fmla="*/ 175 h 978"/>
                <a:gd name="T6" fmla="*/ 1087 w 3327"/>
                <a:gd name="T7" fmla="*/ 530 h 978"/>
                <a:gd name="T8" fmla="*/ 1806 w 3327"/>
                <a:gd name="T9" fmla="*/ 958 h 978"/>
                <a:gd name="T10" fmla="*/ 2550 w 3327"/>
                <a:gd name="T11" fmla="*/ 653 h 978"/>
                <a:gd name="T12" fmla="*/ 3327 w 3327"/>
                <a:gd name="T13" fmla="*/ 718 h 9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27"/>
                <a:gd name="T22" fmla="*/ 0 h 978"/>
                <a:gd name="T23" fmla="*/ 3327 w 3327"/>
                <a:gd name="T24" fmla="*/ 978 h 9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27" h="978">
                  <a:moveTo>
                    <a:pt x="0" y="0"/>
                  </a:moveTo>
                  <a:cubicBezTo>
                    <a:pt x="12" y="1"/>
                    <a:pt x="25" y="3"/>
                    <a:pt x="130" y="32"/>
                  </a:cubicBezTo>
                  <a:cubicBezTo>
                    <a:pt x="235" y="61"/>
                    <a:pt x="469" y="92"/>
                    <a:pt x="628" y="175"/>
                  </a:cubicBezTo>
                  <a:cubicBezTo>
                    <a:pt x="787" y="258"/>
                    <a:pt x="891" y="400"/>
                    <a:pt x="1087" y="530"/>
                  </a:cubicBezTo>
                  <a:cubicBezTo>
                    <a:pt x="1283" y="660"/>
                    <a:pt x="1562" y="938"/>
                    <a:pt x="1806" y="958"/>
                  </a:cubicBezTo>
                  <a:cubicBezTo>
                    <a:pt x="2050" y="978"/>
                    <a:pt x="2297" y="693"/>
                    <a:pt x="2550" y="653"/>
                  </a:cubicBezTo>
                  <a:cubicBezTo>
                    <a:pt x="2803" y="613"/>
                    <a:pt x="3065" y="665"/>
                    <a:pt x="3327" y="718"/>
                  </a:cubicBezTo>
                </a:path>
              </a:pathLst>
            </a:custGeom>
            <a:noFill/>
            <a:ln w="50800">
              <a:solidFill>
                <a:srgbClr val="FF99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BA5441A1-2F5B-4F4F-8FC7-0BBF980C6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967" y="3148280"/>
            <a:ext cx="2858004" cy="201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20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Introduction to TE</a:t>
            </a:r>
            <a:endParaRPr lang="en-US" dirty="0"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5" y="989086"/>
            <a:ext cx="8565285" cy="36698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/>
              <a:t>TE </a:t>
            </a:r>
            <a:r>
              <a:rPr lang="en-US" sz="1600" dirty="0">
                <a:solidFill>
                  <a:srgbClr val="FF0000"/>
                </a:solidFill>
              </a:rPr>
              <a:t>reroutes flows periodically </a:t>
            </a:r>
            <a:r>
              <a:rPr lang="en-US" sz="1600" dirty="0"/>
              <a:t>to achieve </a:t>
            </a:r>
            <a:r>
              <a:rPr lang="en-US" sz="1600"/>
              <a:t>load balancing </a:t>
            </a:r>
          </a:p>
          <a:p>
            <a:pPr lvl="1"/>
            <a:r>
              <a:rPr lang="en-US" sz="1600"/>
              <a:t>The traffic demands among the nodes are changing dynamically </a:t>
            </a:r>
          </a:p>
          <a:p>
            <a:r>
              <a:rPr lang="en-US" altLang="zh-CN" sz="1600"/>
              <a:t>The following information is needed for TE optimization</a:t>
            </a:r>
            <a:endParaRPr lang="en-US" sz="1600"/>
          </a:p>
          <a:p>
            <a:pPr lvl="1"/>
            <a:r>
              <a:rPr lang="en-US" sz="1600" u="sng"/>
              <a:t>Topology</a:t>
            </a:r>
            <a:r>
              <a:rPr lang="en-US" sz="1600"/>
              <a:t>: connectivity &amp; capacity of routers &amp; links</a:t>
            </a:r>
          </a:p>
          <a:p>
            <a:pPr lvl="1"/>
            <a:r>
              <a:rPr lang="en-US" sz="1600" u="sng"/>
              <a:t>Traffic </a:t>
            </a:r>
            <a:r>
              <a:rPr lang="en-US" sz="1600" u="sng" dirty="0"/>
              <a:t>matrix (TM)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FF0000"/>
                </a:solidFill>
              </a:rPr>
              <a:t>traffic demands </a:t>
            </a:r>
            <a:r>
              <a:rPr lang="en-US" sz="1600" dirty="0"/>
              <a:t>between nodes in the network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2AC8BF-E5C3-4F91-B9FF-3A0953FF5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42" y="2449595"/>
            <a:ext cx="3131127" cy="1456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C7456E-7748-49AD-8A18-DF7F10260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97" y="4014365"/>
            <a:ext cx="2585149" cy="8136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B82D2-573D-4B68-9395-C2859A57DD38}"/>
              </a:ext>
            </a:extLst>
          </p:cNvPr>
          <p:cNvSpPr txBox="1"/>
          <p:nvPr/>
        </p:nvSpPr>
        <p:spPr>
          <a:xfrm>
            <a:off x="4119418" y="2115127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EF78DE-F5B8-4E8B-A26F-D5D315C59729}"/>
              </a:ext>
            </a:extLst>
          </p:cNvPr>
          <p:cNvSpPr txBox="1"/>
          <p:nvPr/>
        </p:nvSpPr>
        <p:spPr>
          <a:xfrm>
            <a:off x="4553920" y="2484459"/>
            <a:ext cx="3866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Abilene Network: The variation </a:t>
            </a:r>
            <a:r>
              <a:rPr lang="en-US" sz="1200"/>
              <a:t>of total traffic demands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5C743-DF40-4B9C-A6D8-12CC87EDFF39}"/>
              </a:ext>
            </a:extLst>
          </p:cNvPr>
          <p:cNvSpPr txBox="1"/>
          <p:nvPr/>
        </p:nvSpPr>
        <p:spPr>
          <a:xfrm>
            <a:off x="168166" y="2993597"/>
            <a:ext cx="797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Topology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960222-B982-4A32-9DA3-1C350ECD1CE6}"/>
              </a:ext>
            </a:extLst>
          </p:cNvPr>
          <p:cNvSpPr txBox="1"/>
          <p:nvPr/>
        </p:nvSpPr>
        <p:spPr>
          <a:xfrm>
            <a:off x="34028" y="4252505"/>
            <a:ext cx="10658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Traffic Matrix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ADB1D-6F71-4191-96DA-5F8E0129EC5D}"/>
              </a:ext>
            </a:extLst>
          </p:cNvPr>
          <p:cNvSpPr txBox="1"/>
          <p:nvPr/>
        </p:nvSpPr>
        <p:spPr>
          <a:xfrm>
            <a:off x="4119483" y="4322260"/>
            <a:ext cx="4909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The variation of traffic demands is much larger in commercial network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3A468A-9CE7-41F8-ADCF-517044173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483" y="2726065"/>
            <a:ext cx="4727193" cy="159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71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TE for Resilient Networks</a:t>
            </a:r>
            <a:endParaRPr lang="en-US" dirty="0"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6" y="989086"/>
            <a:ext cx="8000480" cy="3669846"/>
          </a:xfrm>
        </p:spPr>
        <p:txBody>
          <a:bodyPr/>
          <a:lstStyle/>
          <a:p>
            <a:r>
              <a:rPr lang="en-US" sz="1600"/>
              <a:t>Resilience: The capability of a network to </a:t>
            </a:r>
            <a:r>
              <a:rPr lang="en-US" sz="1600">
                <a:solidFill>
                  <a:srgbClr val="FF0000"/>
                </a:solidFill>
              </a:rPr>
              <a:t>recovery from failure</a:t>
            </a:r>
            <a:endParaRPr lang="en-US" sz="1600" dirty="0">
              <a:solidFill>
                <a:srgbClr val="FF0000"/>
              </a:solidFill>
            </a:endParaRPr>
          </a:p>
          <a:p>
            <a:pPr lvl="1"/>
            <a:r>
              <a:rPr lang="en-US" sz="1500"/>
              <a:t>For example, single link failure</a:t>
            </a:r>
            <a:endParaRPr lang="en-US" sz="1500" dirty="0"/>
          </a:p>
          <a:p>
            <a:r>
              <a:rPr lang="en-US" sz="1600"/>
              <a:t>Protection vs. Restoration</a:t>
            </a:r>
          </a:p>
          <a:p>
            <a:pPr lvl="1"/>
            <a:r>
              <a:rPr lang="en-US" sz="1500"/>
              <a:t>Protection</a:t>
            </a:r>
          </a:p>
          <a:p>
            <a:pPr lvl="2"/>
            <a:r>
              <a:rPr lang="en-US" sz="1500"/>
              <a:t>Allocates spare resources (such as backup paths)</a:t>
            </a:r>
          </a:p>
          <a:p>
            <a:pPr lvl="2"/>
            <a:r>
              <a:rPr lang="en-US" sz="1500"/>
              <a:t>Fast recovery, but low spare capacity efficiency</a:t>
            </a:r>
          </a:p>
          <a:p>
            <a:pPr lvl="1"/>
            <a:r>
              <a:rPr lang="en-US" sz="1500"/>
              <a:t>Restoration</a:t>
            </a:r>
          </a:p>
          <a:p>
            <a:pPr lvl="2"/>
            <a:r>
              <a:rPr lang="en-US" sz="1500"/>
              <a:t>Computes new network configurations on the fly</a:t>
            </a:r>
          </a:p>
          <a:p>
            <a:pPr lvl="2"/>
            <a:r>
              <a:rPr lang="en-US" sz="1500"/>
              <a:t>Slow recovery, but high resource efficiency</a:t>
            </a:r>
          </a:p>
          <a:p>
            <a:pPr>
              <a:lnSpc>
                <a:spcPct val="100000"/>
              </a:lnSpc>
            </a:pPr>
            <a:r>
              <a:rPr lang="en-US" sz="1600"/>
              <a:t>How to handle single link failures?</a:t>
            </a:r>
            <a:endParaRPr lang="en-US" sz="1500"/>
          </a:p>
          <a:p>
            <a:pPr lvl="1"/>
            <a:r>
              <a:rPr lang="en-US" sz="1500"/>
              <a:t>Reroute the flows on surviving links</a:t>
            </a:r>
          </a:p>
          <a:p>
            <a:pPr lvl="1"/>
            <a:r>
              <a:rPr lang="en-US" sz="1500"/>
              <a:t>Use TE to re-optimize network performance</a:t>
            </a:r>
          </a:p>
          <a:p>
            <a:pPr lvl="1"/>
            <a:endParaRPr lang="en-US" sz="15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34EF3F-1C27-4D1E-9884-AB74FC9A3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947" y="1466105"/>
            <a:ext cx="2945506" cy="262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22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254591-9F54-43B1-B4EE-8FF5267B1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124" y="3618888"/>
            <a:ext cx="3745344" cy="121588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en-US" dirty="0"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5" y="989086"/>
            <a:ext cx="8120089" cy="3669846"/>
          </a:xfrm>
        </p:spPr>
        <p:txBody>
          <a:bodyPr/>
          <a:lstStyle/>
          <a:p>
            <a:r>
              <a:rPr lang="en-US" sz="1600" dirty="0"/>
              <a:t>Tradition TE </a:t>
            </a:r>
            <a:r>
              <a:rPr lang="en-US" sz="1600"/>
              <a:t>solutions often </a:t>
            </a:r>
            <a:r>
              <a:rPr lang="en-US" sz="1600" dirty="0">
                <a:solidFill>
                  <a:srgbClr val="FF0000"/>
                </a:solidFill>
              </a:rPr>
              <a:t>reroute many flows </a:t>
            </a:r>
            <a:r>
              <a:rPr lang="en-US" sz="1600" dirty="0"/>
              <a:t>(source-destination flows) to minimize the maximum link utilization </a:t>
            </a:r>
            <a:r>
              <a:rPr lang="en-US" sz="1600"/>
              <a:t>(MLU) when </a:t>
            </a:r>
            <a:r>
              <a:rPr lang="en-US" sz="1600">
                <a:solidFill>
                  <a:srgbClr val="FF0000"/>
                </a:solidFill>
              </a:rPr>
              <a:t>network state changes</a:t>
            </a:r>
            <a:r>
              <a:rPr lang="en-US" sz="1600"/>
              <a:t>.</a:t>
            </a:r>
            <a:endParaRPr lang="en-US" sz="1600" dirty="0"/>
          </a:p>
          <a:p>
            <a:r>
              <a:rPr lang="en-US" sz="1600" u="sng" dirty="0"/>
              <a:t>Potential problem</a:t>
            </a:r>
            <a:r>
              <a:rPr lang="en-US" sz="1600" dirty="0"/>
              <a:t>: significant </a:t>
            </a:r>
            <a:r>
              <a:rPr lang="en-US" sz="1600" dirty="0">
                <a:solidFill>
                  <a:srgbClr val="FF0000"/>
                </a:solidFill>
              </a:rPr>
              <a:t>network disturbance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FF0000"/>
                </a:solidFill>
              </a:rPr>
              <a:t>service disruption</a:t>
            </a:r>
            <a:r>
              <a:rPr lang="en-US" sz="1600" dirty="0"/>
              <a:t>. </a:t>
            </a:r>
          </a:p>
          <a:p>
            <a:pPr lvl="1"/>
            <a:r>
              <a:rPr lang="en-US" sz="1500" dirty="0"/>
              <a:t>Changing the path of a source-destination flow could </a:t>
            </a:r>
            <a:r>
              <a:rPr lang="en-US" sz="1500" dirty="0">
                <a:solidFill>
                  <a:srgbClr val="FF0000"/>
                </a:solidFill>
              </a:rPr>
              <a:t>temporarily affect many TCP flows’ normal operation.</a:t>
            </a:r>
            <a:r>
              <a:rPr lang="en-US" sz="1500" dirty="0"/>
              <a:t> [1]</a:t>
            </a:r>
          </a:p>
          <a:p>
            <a:pPr marL="1314450" lvl="2" indent="-400050">
              <a:buFont typeface="+mj-lt"/>
              <a:buAutoNum type="romanUcPeriod"/>
            </a:pPr>
            <a:r>
              <a:rPr lang="en-US" sz="1500" dirty="0"/>
              <a:t>Packets out-of-order</a:t>
            </a:r>
            <a:r>
              <a:rPr lang="en-US" sz="1500" dirty="0">
                <a:solidFill>
                  <a:srgbClr val="FF0000"/>
                </a:solidFill>
              </a:rPr>
              <a:t> </a:t>
            </a:r>
            <a:r>
              <a:rPr lang="en-US" sz="1500" dirty="0"/>
              <a:t>may trigger duplicate ACKs</a:t>
            </a:r>
          </a:p>
          <a:p>
            <a:pPr marL="1314450" lvl="2" indent="-400050">
              <a:buFont typeface="+mj-lt"/>
              <a:buAutoNum type="romanUcPeriod"/>
            </a:pPr>
            <a:r>
              <a:rPr lang="en-US" sz="1500" dirty="0"/>
              <a:t>Falsely signal network congestion to the senders and reduce sending rate</a:t>
            </a:r>
          </a:p>
          <a:p>
            <a:pPr marL="1314450" lvl="2" indent="-400050">
              <a:buFont typeface="+mj-lt"/>
              <a:buAutoNum type="romanUcPeriod"/>
            </a:pPr>
            <a:r>
              <a:rPr lang="en-US" sz="1500" dirty="0"/>
              <a:t>Increase the flow’s completion time and degrade users’ </a:t>
            </a:r>
            <a:r>
              <a:rPr lang="en-US" sz="1500" dirty="0" err="1"/>
              <a:t>QoE</a:t>
            </a:r>
            <a:endParaRPr lang="en-US" sz="1500" dirty="0"/>
          </a:p>
          <a:p>
            <a:pPr lvl="1"/>
            <a:r>
              <a:rPr lang="en-US" sz="1500"/>
              <a:t>How to </a:t>
            </a:r>
            <a:r>
              <a:rPr lang="en-US" sz="1500" u="sng"/>
              <a:t>mitigate the network disturbance</a:t>
            </a:r>
            <a:r>
              <a:rPr lang="en-US" sz="1500"/>
              <a:t> with </a:t>
            </a:r>
            <a:r>
              <a:rPr lang="en-US" sz="1500" u="sng"/>
              <a:t>performance guarantee </a:t>
            </a:r>
            <a:r>
              <a:rPr lang="en-US" sz="1500"/>
              <a:t>when there is a </a:t>
            </a:r>
            <a:r>
              <a:rPr lang="en-US" sz="1500" b="1"/>
              <a:t>link failure</a:t>
            </a:r>
            <a:r>
              <a:rPr lang="en-US" sz="1500"/>
              <a:t>?</a:t>
            </a:r>
            <a:endParaRPr lang="en-US" sz="15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FA94B-5938-412C-84E5-3CB1A41A13D8}"/>
              </a:ext>
            </a:extLst>
          </p:cNvPr>
          <p:cNvSpPr/>
          <p:nvPr/>
        </p:nvSpPr>
        <p:spPr>
          <a:xfrm>
            <a:off x="1353557" y="4793205"/>
            <a:ext cx="7125424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288925" indent="-277813"/>
            <a:r>
              <a:rPr lang="en-US" sz="800" dirty="0"/>
              <a:t>[1] </a:t>
            </a:r>
            <a:r>
              <a:rPr lang="en-US" sz="800" dirty="0" err="1"/>
              <a:t>Carpa</a:t>
            </a:r>
            <a:r>
              <a:rPr lang="en-US" sz="800" dirty="0"/>
              <a:t>, Radu, et al. "Evaluating the impact of SDN-induced frequent route changes on TCP flows." </a:t>
            </a:r>
            <a:r>
              <a:rPr lang="en-US" sz="800" i="1" dirty="0"/>
              <a:t>2017 13th International Conference on Network</a:t>
            </a:r>
          </a:p>
          <a:p>
            <a:pPr marL="288925" indent="-277813"/>
            <a:r>
              <a:rPr lang="en-US" sz="800" i="1" dirty="0"/>
              <a:t>     and Service Management (CNSM)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837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Insight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9">
                <a:extLst>
                  <a:ext uri="{FF2B5EF4-FFF2-40B4-BE49-F238E27FC236}">
                    <a16:creationId xmlns:a16="http://schemas.microsoft.com/office/drawing/2014/main" id="{A6957800-733A-4BFA-B820-4DA9D127D4C8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441556" y="989086"/>
                <a:ext cx="8475898" cy="3669846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sz="1600" dirty="0"/>
                  <a:t>Our solution: Forward majority of traffic flows using Equal-Cost Multi-Path (ECMP</a:t>
                </a:r>
                <a:r>
                  <a:rPr lang="en-US" sz="1600"/>
                  <a:t>) and only </a:t>
                </a:r>
                <a:r>
                  <a:rPr lang="en-US" sz="1600" dirty="0"/>
                  <a:t>selectively rerouting a few </a:t>
                </a:r>
                <a:r>
                  <a:rPr lang="en-US" sz="1600" dirty="0">
                    <a:solidFill>
                      <a:srgbClr val="FF0000"/>
                    </a:solidFill>
                  </a:rPr>
                  <a:t>critical flows </a:t>
                </a:r>
                <a:r>
                  <a:rPr lang="en-US" sz="1600" dirty="0"/>
                  <a:t>using SDN to balance the link utilization.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dirty="0"/>
                  <a:t>We formulate the problem as a </a:t>
                </a:r>
                <a:r>
                  <a:rPr lang="en-US" sz="1600" b="1" u="sng" dirty="0"/>
                  <a:t>flow rerouting problem</a:t>
                </a:r>
                <a:r>
                  <a:rPr lang="en-US" sz="1600" u="sng" dirty="0"/>
                  <a:t> </a:t>
                </a:r>
                <a:r>
                  <a:rPr lang="en-US" sz="1600" dirty="0"/>
                  <a:t>with 2 subproblems:</a:t>
                </a:r>
              </a:p>
              <a:p>
                <a:pPr marL="857250" lvl="1" indent="-400050">
                  <a:buFont typeface="+mj-lt"/>
                  <a:buAutoNum type="romanUcPeriod"/>
                </a:pPr>
                <a:r>
                  <a:rPr lang="en-US" sz="1600" dirty="0"/>
                  <a:t>Identify the critical flows </a:t>
                </a:r>
                <a:r>
                  <a:rPr lang="en-US" sz="1600"/>
                  <a:t>from TM and topology</a:t>
                </a:r>
                <a:endParaRPr lang="en-US" sz="1600" dirty="0"/>
              </a:p>
              <a:p>
                <a:pPr marL="857250" lvl="1" indent="-400050">
                  <a:buFont typeface="+mj-lt"/>
                  <a:buAutoNum type="romanUcPeriod"/>
                </a:pPr>
                <a:r>
                  <a:rPr lang="en-US" sz="1600" dirty="0"/>
                  <a:t>Reroute the identified critical flows with different split ratios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dirty="0"/>
                  <a:t>The 2</a:t>
                </a:r>
                <a:r>
                  <a:rPr lang="en-US" sz="1600" baseline="30000" dirty="0"/>
                  <a:t>nd</a:t>
                </a:r>
                <a:r>
                  <a:rPr lang="en-US" sz="1600" dirty="0"/>
                  <a:t> one is easy to solve by formulating it as </a:t>
                </a:r>
                <a:r>
                  <a:rPr lang="en-US" sz="1600"/>
                  <a:t>a Linear Programming </a:t>
                </a:r>
                <a:r>
                  <a:rPr lang="en-US" sz="1600" dirty="0"/>
                  <a:t>(LP) optimization problem once the critical flows are identified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dirty="0"/>
                  <a:t>The key problem is </a:t>
                </a:r>
                <a:r>
                  <a:rPr lang="en-US" sz="1600" b="1" u="sng" dirty="0">
                    <a:solidFill>
                      <a:srgbClr val="FF0000"/>
                    </a:solidFill>
                  </a:rPr>
                  <a:t>how to select the critical flows</a:t>
                </a:r>
              </a:p>
              <a:p>
                <a:pPr lvl="1"/>
                <a:r>
                  <a:rPr lang="en-US" sz="1600" dirty="0"/>
                  <a:t>If we want to find 10 critical flows among 100 flows, the solution space has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100, 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=1.73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  <a:r>
                  <a:rPr lang="en-US" sz="1600"/>
                  <a:t>combinations!</a:t>
                </a:r>
                <a:endParaRPr lang="en-US" sz="1600" dirty="0"/>
              </a:p>
            </p:txBody>
          </p:sp>
        </mc:Choice>
        <mc:Fallback xmlns="">
          <p:sp>
            <p:nvSpPr>
              <p:cNvPr id="9" name="文本占位符 9">
                <a:extLst>
                  <a:ext uri="{FF2B5EF4-FFF2-40B4-BE49-F238E27FC236}">
                    <a16:creationId xmlns:a16="http://schemas.microsoft.com/office/drawing/2014/main" id="{A6957800-733A-4BFA-B820-4DA9D127D4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441556" y="989086"/>
                <a:ext cx="8475898" cy="3669846"/>
              </a:xfrm>
              <a:blipFill>
                <a:blip r:embed="rId2"/>
                <a:stretch>
                  <a:fillRect l="-1366" t="-1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09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Panacea</a:t>
            </a:r>
            <a:endParaRPr lang="en-US" dirty="0"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6" y="989086"/>
            <a:ext cx="8375790" cy="36698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/>
              <a:t>Therefore, we </a:t>
            </a:r>
            <a:r>
              <a:rPr lang="en-US" sz="1600"/>
              <a:t>propose </a:t>
            </a:r>
            <a:r>
              <a:rPr lang="en-US" sz="1600" b="1" u="sng"/>
              <a:t>Panacea:</a:t>
            </a:r>
            <a:r>
              <a:rPr lang="en-US" sz="1600"/>
              <a:t> a </a:t>
            </a:r>
            <a:r>
              <a:rPr lang="en-US" sz="1600">
                <a:solidFill>
                  <a:srgbClr val="FF0000"/>
                </a:solidFill>
              </a:rPr>
              <a:t>Reinforcement Learning </a:t>
            </a:r>
            <a:r>
              <a:rPr lang="en-US" sz="1600"/>
              <a:t>(RL)-based TE solution which can </a:t>
            </a:r>
            <a:r>
              <a:rPr lang="en-US" sz="1600">
                <a:highlight>
                  <a:srgbClr val="FFFF00"/>
                </a:highlight>
              </a:rPr>
              <a:t>adapt to different failure situations</a:t>
            </a:r>
            <a:r>
              <a:rPr lang="en-US" sz="1600"/>
              <a:t> in resilient networks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/>
              <a:t>Take the network topology and TM as an input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/>
              <a:t>Use RL</a:t>
            </a:r>
            <a:r>
              <a:rPr lang="en-US" sz="1600">
                <a:solidFill>
                  <a:srgbClr val="FF0000"/>
                </a:solidFill>
              </a:rPr>
              <a:t> </a:t>
            </a:r>
            <a:r>
              <a:rPr lang="en-US" sz="1600"/>
              <a:t>to identify </a:t>
            </a:r>
            <a:r>
              <a:rPr lang="en-US" sz="1600">
                <a:solidFill>
                  <a:srgbClr val="FF0000"/>
                </a:solidFill>
              </a:rPr>
              <a:t>critical flows </a:t>
            </a:r>
            <a:r>
              <a:rPr lang="en-US" sz="1600"/>
              <a:t>under different failure situations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/>
              <a:t>Formulate a LP problem to reroute the critical flows with SDN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/>
              <a:t>Panacea </a:t>
            </a:r>
            <a:r>
              <a:rPr lang="en-US" sz="1600" dirty="0"/>
              <a:t>can be trained to learn a </a:t>
            </a:r>
            <a:r>
              <a:rPr lang="en-US" sz="1600" dirty="0">
                <a:solidFill>
                  <a:srgbClr val="FF0000"/>
                </a:solidFill>
              </a:rPr>
              <a:t>selection policy </a:t>
            </a:r>
            <a:r>
              <a:rPr lang="en-US" sz="1600" dirty="0"/>
              <a:t>over a rich variety </a:t>
            </a:r>
            <a:r>
              <a:rPr lang="en-US" sz="1600"/>
              <a:t>of failure situations and historical TMs collected </a:t>
            </a:r>
            <a:r>
              <a:rPr lang="en-US" sz="1600" dirty="0"/>
              <a:t>by the </a:t>
            </a:r>
            <a:r>
              <a:rPr lang="en-US" sz="1600"/>
              <a:t>SDN controller</a:t>
            </a:r>
          </a:p>
          <a:p>
            <a:pPr lvl="1"/>
            <a:r>
              <a:rPr lang="en-US" sz="1600"/>
              <a:t>The selection policy maps the topology and TM to the critical flow selection</a:t>
            </a:r>
          </a:p>
          <a:p>
            <a:pPr>
              <a:lnSpc>
                <a:spcPct val="100000"/>
              </a:lnSpc>
            </a:pPr>
            <a:r>
              <a:rPr lang="en-US" sz="1600"/>
              <a:t>The </a:t>
            </a:r>
            <a:r>
              <a:rPr lang="en-US" sz="1600" dirty="0"/>
              <a:t>SDN controller </a:t>
            </a:r>
            <a:r>
              <a:rPr lang="en-US" sz="1600" dirty="0">
                <a:solidFill>
                  <a:srgbClr val="FF0000"/>
                </a:solidFill>
              </a:rPr>
              <a:t>installs and updates flow entries </a:t>
            </a:r>
            <a:r>
              <a:rPr lang="en-US" sz="1600"/>
              <a:t>at the SDN switches to reroute the critical flows based on LP solution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30352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Workflow </a:t>
            </a:r>
            <a:r>
              <a:rPr lang="en-US"/>
              <a:t>of Panacea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781DD7-FD47-43CC-80E2-94F07A229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683" y="1256146"/>
            <a:ext cx="4849063" cy="341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loud 6">
            <a:extLst>
              <a:ext uri="{FF2B5EF4-FFF2-40B4-BE49-F238E27FC236}">
                <a16:creationId xmlns:a16="http://schemas.microsoft.com/office/drawing/2014/main" id="{8A540CD8-D8A9-462A-8F25-52FE22CA5FC9}"/>
              </a:ext>
            </a:extLst>
          </p:cNvPr>
          <p:cNvSpPr/>
          <p:nvPr/>
        </p:nvSpPr>
        <p:spPr>
          <a:xfrm>
            <a:off x="3915162" y="1657928"/>
            <a:ext cx="1269309" cy="711199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Panacea</a:t>
            </a:r>
            <a:endParaRPr lang="en-US" sz="12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2658B4-F671-4D1C-9A00-06B2948C1AE6}"/>
              </a:ext>
            </a:extLst>
          </p:cNvPr>
          <p:cNvCxnSpPr>
            <a:cxnSpLocks/>
          </p:cNvCxnSpPr>
          <p:nvPr/>
        </p:nvCxnSpPr>
        <p:spPr>
          <a:xfrm flipV="1">
            <a:off x="3007902" y="2175164"/>
            <a:ext cx="972743" cy="607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221894-9BFF-4D3F-B84D-C62A51BEAC1F}"/>
              </a:ext>
            </a:extLst>
          </p:cNvPr>
          <p:cNvCxnSpPr>
            <a:cxnSpLocks/>
          </p:cNvCxnSpPr>
          <p:nvPr/>
        </p:nvCxnSpPr>
        <p:spPr>
          <a:xfrm flipV="1">
            <a:off x="3942237" y="2302164"/>
            <a:ext cx="280245" cy="468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D03614B-452B-4388-9A60-2386E9167350}"/>
              </a:ext>
            </a:extLst>
          </p:cNvPr>
          <p:cNvCxnSpPr>
            <a:cxnSpLocks/>
          </p:cNvCxnSpPr>
          <p:nvPr/>
        </p:nvCxnSpPr>
        <p:spPr>
          <a:xfrm flipV="1">
            <a:off x="3713018" y="2369127"/>
            <a:ext cx="684223" cy="1401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7429D2-6D44-450A-B66F-96CA242FC779}"/>
              </a:ext>
            </a:extLst>
          </p:cNvPr>
          <p:cNvCxnSpPr>
            <a:cxnSpLocks/>
          </p:cNvCxnSpPr>
          <p:nvPr/>
        </p:nvCxnSpPr>
        <p:spPr>
          <a:xfrm flipH="1" flipV="1">
            <a:off x="4598243" y="2395537"/>
            <a:ext cx="97943" cy="1369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9F99CF-AD7C-4C60-B21E-D9777D195CA6}"/>
              </a:ext>
            </a:extLst>
          </p:cNvPr>
          <p:cNvCxnSpPr>
            <a:cxnSpLocks/>
          </p:cNvCxnSpPr>
          <p:nvPr/>
        </p:nvCxnSpPr>
        <p:spPr>
          <a:xfrm flipH="1" flipV="1">
            <a:off x="4684299" y="2369127"/>
            <a:ext cx="181574" cy="401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6504DF-9C8A-44D8-B50B-B26D15B86EAF}"/>
              </a:ext>
            </a:extLst>
          </p:cNvPr>
          <p:cNvCxnSpPr>
            <a:cxnSpLocks/>
          </p:cNvCxnSpPr>
          <p:nvPr/>
        </p:nvCxnSpPr>
        <p:spPr>
          <a:xfrm flipH="1" flipV="1">
            <a:off x="4816764" y="2302164"/>
            <a:ext cx="752763" cy="1346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C9B68B7-786D-4BB3-8788-5640103140BC}"/>
              </a:ext>
            </a:extLst>
          </p:cNvPr>
          <p:cNvCxnSpPr>
            <a:cxnSpLocks/>
          </p:cNvCxnSpPr>
          <p:nvPr/>
        </p:nvCxnSpPr>
        <p:spPr>
          <a:xfrm flipH="1" flipV="1">
            <a:off x="4998338" y="2175164"/>
            <a:ext cx="936026" cy="59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文本框 7">
            <a:extLst>
              <a:ext uri="{FF2B5EF4-FFF2-40B4-BE49-F238E27FC236}">
                <a16:creationId xmlns:a16="http://schemas.microsoft.com/office/drawing/2014/main" id="{B9731ACD-1FD2-449E-9E66-8DFC5B3C49A2}"/>
              </a:ext>
            </a:extLst>
          </p:cNvPr>
          <p:cNvSpPr txBox="1"/>
          <p:nvPr/>
        </p:nvSpPr>
        <p:spPr>
          <a:xfrm>
            <a:off x="5271841" y="1801184"/>
            <a:ext cx="2620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1. </a:t>
            </a:r>
            <a:r>
              <a:rPr lang="en-US" sz="1200">
                <a:solidFill>
                  <a:srgbClr val="0070C0"/>
                </a:solidFill>
              </a:rPr>
              <a:t>Collect TM and current topology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38" name="文本框 7">
            <a:extLst>
              <a:ext uri="{FF2B5EF4-FFF2-40B4-BE49-F238E27FC236}">
                <a16:creationId xmlns:a16="http://schemas.microsoft.com/office/drawing/2014/main" id="{D6B6C875-413E-403C-8555-AA82DF1B44D5}"/>
              </a:ext>
            </a:extLst>
          </p:cNvPr>
          <p:cNvSpPr txBox="1"/>
          <p:nvPr/>
        </p:nvSpPr>
        <p:spPr>
          <a:xfrm>
            <a:off x="5271841" y="1811857"/>
            <a:ext cx="17215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2. Select Critical Flows</a:t>
            </a:r>
          </a:p>
        </p:txBody>
      </p:sp>
      <p:sp>
        <p:nvSpPr>
          <p:cNvPr id="39" name="文本框 7">
            <a:extLst>
              <a:ext uri="{FF2B5EF4-FFF2-40B4-BE49-F238E27FC236}">
                <a16:creationId xmlns:a16="http://schemas.microsoft.com/office/drawing/2014/main" id="{2A811A9E-C03B-4E38-BB21-63AC517BE292}"/>
              </a:ext>
            </a:extLst>
          </p:cNvPr>
          <p:cNvSpPr txBox="1"/>
          <p:nvPr/>
        </p:nvSpPr>
        <p:spPr>
          <a:xfrm>
            <a:off x="5260165" y="1807819"/>
            <a:ext cx="1892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3. LP calculate split ratio</a:t>
            </a:r>
          </a:p>
        </p:txBody>
      </p:sp>
      <p:sp>
        <p:nvSpPr>
          <p:cNvPr id="40" name="文本框 7">
            <a:extLst>
              <a:ext uri="{FF2B5EF4-FFF2-40B4-BE49-F238E27FC236}">
                <a16:creationId xmlns:a16="http://schemas.microsoft.com/office/drawing/2014/main" id="{1354C8ED-7535-4127-965F-350A9E009D31}"/>
              </a:ext>
            </a:extLst>
          </p:cNvPr>
          <p:cNvSpPr txBox="1"/>
          <p:nvPr/>
        </p:nvSpPr>
        <p:spPr>
          <a:xfrm>
            <a:off x="5271839" y="1811857"/>
            <a:ext cx="17215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4. Deploy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9FD0AD5-174C-40ED-A093-7E7335E4A404}"/>
              </a:ext>
            </a:extLst>
          </p:cNvPr>
          <p:cNvCxnSpPr>
            <a:cxnSpLocks/>
          </p:cNvCxnSpPr>
          <p:nvPr/>
        </p:nvCxnSpPr>
        <p:spPr>
          <a:xfrm flipH="1">
            <a:off x="2932546" y="2175164"/>
            <a:ext cx="960581" cy="59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471E282-1FF7-4F4D-B6C0-D108FB554169}"/>
              </a:ext>
            </a:extLst>
          </p:cNvPr>
          <p:cNvCxnSpPr>
            <a:cxnSpLocks/>
          </p:cNvCxnSpPr>
          <p:nvPr/>
        </p:nvCxnSpPr>
        <p:spPr>
          <a:xfrm flipH="1">
            <a:off x="3893127" y="2302164"/>
            <a:ext cx="277092" cy="468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0B6C386-55B6-4770-8266-294991FEA249}"/>
              </a:ext>
            </a:extLst>
          </p:cNvPr>
          <p:cNvCxnSpPr>
            <a:cxnSpLocks/>
          </p:cNvCxnSpPr>
          <p:nvPr/>
        </p:nvCxnSpPr>
        <p:spPr>
          <a:xfrm flipH="1">
            <a:off x="3742923" y="2389621"/>
            <a:ext cx="688224" cy="1429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A39C46D-3E58-4339-B40C-612799B14745}"/>
              </a:ext>
            </a:extLst>
          </p:cNvPr>
          <p:cNvCxnSpPr>
            <a:cxnSpLocks/>
          </p:cNvCxnSpPr>
          <p:nvPr/>
        </p:nvCxnSpPr>
        <p:spPr>
          <a:xfrm>
            <a:off x="4512471" y="2410115"/>
            <a:ext cx="93435" cy="1321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951F3BD-996F-4E45-B3B9-954A7A765BC9}"/>
              </a:ext>
            </a:extLst>
          </p:cNvPr>
          <p:cNvCxnSpPr>
            <a:cxnSpLocks/>
          </p:cNvCxnSpPr>
          <p:nvPr/>
        </p:nvCxnSpPr>
        <p:spPr>
          <a:xfrm>
            <a:off x="4647214" y="2410115"/>
            <a:ext cx="181437" cy="427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CDC136-3DE2-4D74-8E87-99ED4DF90B29}"/>
              </a:ext>
            </a:extLst>
          </p:cNvPr>
          <p:cNvCxnSpPr>
            <a:cxnSpLocks/>
          </p:cNvCxnSpPr>
          <p:nvPr/>
        </p:nvCxnSpPr>
        <p:spPr>
          <a:xfrm>
            <a:off x="4892964" y="2302164"/>
            <a:ext cx="734402" cy="1346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859E331-B629-4454-B315-C9FAC01E3B94}"/>
              </a:ext>
            </a:extLst>
          </p:cNvPr>
          <p:cNvCxnSpPr>
            <a:cxnSpLocks/>
          </p:cNvCxnSpPr>
          <p:nvPr/>
        </p:nvCxnSpPr>
        <p:spPr>
          <a:xfrm>
            <a:off x="5047447" y="2133600"/>
            <a:ext cx="992291" cy="613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9" name="Picture 68">
            <a:extLst>
              <a:ext uri="{FF2B5EF4-FFF2-40B4-BE49-F238E27FC236}">
                <a16:creationId xmlns:a16="http://schemas.microsoft.com/office/drawing/2014/main" id="{53B1AB60-1F50-4849-9F1B-410784304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423" y="991075"/>
            <a:ext cx="1102610" cy="74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8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8" grpId="1"/>
      <p:bldP spid="39" grpId="0"/>
      <p:bldP spid="39" grpId="1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2425A08-1735-F54D-92F3-B1586644084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68136" y="879379"/>
                <a:ext cx="8449210" cy="3669846"/>
              </a:xfrm>
            </p:spPr>
            <p:txBody>
              <a:bodyPr/>
              <a:lstStyle/>
              <a:p>
                <a:r>
                  <a:rPr lang="en-US" dirty="0"/>
                  <a:t>An agent receives observation from the environment, execute an action to the environment, and receive a reward signal as the feedback</a:t>
                </a:r>
              </a:p>
              <a:p>
                <a:r>
                  <a:rPr lang="en-US" dirty="0"/>
                  <a:t>Objective: find a </a:t>
                </a:r>
                <a:r>
                  <a:rPr lang="en-US" dirty="0">
                    <a:solidFill>
                      <a:srgbClr val="FF0000"/>
                    </a:solidFill>
                  </a:rPr>
                  <a:t>policy</a:t>
                </a:r>
                <a:r>
                  <a:rPr lang="en-US" dirty="0"/>
                  <a:t> that maximize the expected reward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maximizing the network performance over various TMs)</a:t>
                </a:r>
              </a:p>
              <a:p>
                <a:r>
                  <a:rPr lang="en-US" dirty="0"/>
                  <a:t>A policy: An agent’s behavior. It is a map from state to action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2425A08-1735-F54D-92F3-B158664408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8136" y="879379"/>
                <a:ext cx="8449210" cy="3669846"/>
              </a:xfrm>
              <a:blipFill>
                <a:blip r:embed="rId2"/>
                <a:stretch>
                  <a:fillRect l="-751" r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A0366-02D2-CB40-8BE5-81AC62505E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E878-CBBF-2742-80B4-0DCB4AF331D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What is reinforcement learning?</a:t>
            </a:r>
          </a:p>
        </p:txBody>
      </p:sp>
      <p:pic>
        <p:nvPicPr>
          <p:cNvPr id="7" name="Google Shape;179;p15" descr="Image result for reinforcement learning">
            <a:extLst>
              <a:ext uri="{FF2B5EF4-FFF2-40B4-BE49-F238E27FC236}">
                <a16:creationId xmlns:a16="http://schemas.microsoft.com/office/drawing/2014/main" id="{DD596B49-688B-4046-BC8B-3041694FEF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2223" y="3033908"/>
            <a:ext cx="2201084" cy="2129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6155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C531FF1-0743-FE45-830D-575E5E5500E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Input/ State space: An RL agent take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is a traffic matrix at time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is the link status at time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800" b="0" dirty="0"/>
              </a:p>
              <a:p>
                <a:r>
                  <a:rPr lang="en-US" sz="1800" b="0" dirty="0"/>
                  <a:t>Action space: The action is defined as </a:t>
                </a:r>
                <a:r>
                  <a:rPr lang="en-US" sz="1800" b="0" dirty="0">
                    <a:solidFill>
                      <a:srgbClr val="FF0000"/>
                    </a:solidFill>
                  </a:rPr>
                  <a:t>{1, 2, … N*(N-1)} </a:t>
                </a:r>
                <a:r>
                  <a:rPr lang="en-US" sz="1800" b="0" dirty="0"/>
                  <a:t>since there are totally N*(N-1) flows in the network, where N is the number of nodes</a:t>
                </a:r>
              </a:p>
              <a:p>
                <a:r>
                  <a:rPr lang="en-US" sz="1800" dirty="0"/>
                  <a:t>Given a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b="0" dirty="0"/>
                  <a:t>, the agent would </a:t>
                </a:r>
                <a:r>
                  <a:rPr lang="en-US" sz="1800" b="0" dirty="0">
                    <a:solidFill>
                      <a:srgbClr val="FF0000"/>
                    </a:solidFill>
                  </a:rPr>
                  <a:t>sample </a:t>
                </a:r>
                <a:r>
                  <a:rPr lang="en-US" sz="1800" dirty="0">
                    <a:solidFill>
                      <a:srgbClr val="FF0000"/>
                    </a:solidFill>
                  </a:rPr>
                  <a:t>K</a:t>
                </a:r>
                <a:r>
                  <a:rPr lang="en-US" sz="1800" b="0" dirty="0">
                    <a:solidFill>
                      <a:srgbClr val="FF0000"/>
                    </a:solidFill>
                  </a:rPr>
                  <a:t> different actions as critical flows </a:t>
                </a:r>
                <a:r>
                  <a:rPr lang="en-US" sz="1800" b="0" dirty="0"/>
                  <a:t>according to the probability of each action</a:t>
                </a:r>
              </a:p>
              <a:p>
                <a:r>
                  <a:rPr lang="en-US" sz="1800" dirty="0"/>
                  <a:t>Then, Panacea reroutes these critical flows and obtains the maximum link utilization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sz="1800" dirty="0"/>
                  <a:t> by solving the rerouting optimization problem using LP</a:t>
                </a:r>
              </a:p>
              <a:p>
                <a:r>
                  <a:rPr lang="en-US" sz="1800" b="0" dirty="0"/>
                  <a:t>Reward: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den>
                    </m:f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b="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sz="1800" b="0" dirty="0"/>
                  <a:t> is the maximum link utilization in the network. The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sz="1800" b="0" dirty="0"/>
                  <a:t>, the better performance and thus higher reward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C531FF1-0743-FE45-830D-575E5E550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751" r="-1051" b="-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4AAA17-D9C5-A640-8EFF-F642242CBC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24CCA-81C2-5341-A58E-61445B9A2DE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RL Formulation</a:t>
            </a:r>
          </a:p>
        </p:txBody>
      </p:sp>
    </p:spTree>
    <p:extLst>
      <p:ext uri="{BB962C8B-B14F-4D97-AF65-F5344CB8AC3E}">
        <p14:creationId xmlns:p14="http://schemas.microsoft.com/office/powerpoint/2010/main" val="3158193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32D899A-440D-6E4A-A4D5-76BE542F1708}"/>
              </a:ext>
            </a:extLst>
          </p:cNvPr>
          <p:cNvSpPr/>
          <p:nvPr/>
        </p:nvSpPr>
        <p:spPr>
          <a:xfrm>
            <a:off x="264731" y="1049217"/>
            <a:ext cx="2133600" cy="2531160"/>
          </a:xfrm>
          <a:prstGeom prst="rect">
            <a:avLst/>
          </a:prstGeom>
          <a:solidFill>
            <a:srgbClr val="D5FC79">
              <a:alpha val="72941"/>
            </a:srgbClr>
          </a:solidFill>
          <a:ln>
            <a:solidFill>
              <a:srgbClr val="D5FC79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5" name="Google Shape;185;p16"/>
          <p:cNvSpPr txBox="1">
            <a:spLocks noGrp="1"/>
          </p:cNvSpPr>
          <p:nvPr>
            <p:ph type="sldNum" idx="12"/>
          </p:nvPr>
        </p:nvSpPr>
        <p:spPr>
          <a:xfrm>
            <a:off x="6683746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6" name="Google Shape;186;p16"/>
          <p:cNvSpPr txBox="1">
            <a:spLocks noGrp="1"/>
          </p:cNvSpPr>
          <p:nvPr>
            <p:ph type="body" idx="2"/>
          </p:nvPr>
        </p:nvSpPr>
        <p:spPr>
          <a:xfrm>
            <a:off x="2057400" y="155449"/>
            <a:ext cx="6860053" cy="4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Policy Network Architecture</a:t>
            </a:r>
            <a:endParaRPr dirty="0"/>
          </a:p>
        </p:txBody>
      </p:sp>
      <p:sp>
        <p:nvSpPr>
          <p:cNvPr id="193" name="Google Shape;193;p16"/>
          <p:cNvSpPr txBox="1"/>
          <p:nvPr/>
        </p:nvSpPr>
        <p:spPr>
          <a:xfrm>
            <a:off x="6918868" y="4297837"/>
            <a:ext cx="172346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 * (N-1) outputs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Each one corresponds to one of the flows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6918868" y="3828410"/>
            <a:ext cx="23642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Softmax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function for generating the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probabilities for all actions    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54610" y="4058497"/>
            <a:ext cx="326345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Training: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Sample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K actions according to the probability of each action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Evaluation (After training is done): Choose K actions with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highest probabilities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8" descr="A close up of a sign&#10;&#10;Description automatically generated">
            <a:extLst>
              <a:ext uri="{FF2B5EF4-FFF2-40B4-BE49-F238E27FC236}">
                <a16:creationId xmlns:a16="http://schemas.microsoft.com/office/drawing/2014/main" id="{AC3C6E31-8D8F-5E4E-BAF5-8888FCF5B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552" y="1112060"/>
            <a:ext cx="1178411" cy="2141665"/>
          </a:xfrm>
          <a:prstGeom prst="rect">
            <a:avLst/>
          </a:prstGeom>
          <a:ln w="38100" cap="sq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128CD8F-60BE-2C4B-8453-C517965E9B9D}"/>
              </a:ext>
            </a:extLst>
          </p:cNvPr>
          <p:cNvGrpSpPr/>
          <p:nvPr/>
        </p:nvGrpSpPr>
        <p:grpSpPr>
          <a:xfrm>
            <a:off x="4837037" y="2302868"/>
            <a:ext cx="1460444" cy="869190"/>
            <a:chOff x="5299511" y="2428839"/>
            <a:chExt cx="1596852" cy="105290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7F0506C-62EA-964B-AE70-0FC772D3F2DC}"/>
                </a:ext>
              </a:extLst>
            </p:cNvPr>
            <p:cNvSpPr/>
            <p:nvPr/>
          </p:nvSpPr>
          <p:spPr>
            <a:xfrm>
              <a:off x="5299512" y="2835415"/>
              <a:ext cx="1596851" cy="64633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Transformer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C3BD170-E9C6-DB4E-A801-8923C37B71F5}"/>
                </a:ext>
              </a:extLst>
            </p:cNvPr>
            <p:cNvSpPr/>
            <p:nvPr/>
          </p:nvSpPr>
          <p:spPr>
            <a:xfrm>
              <a:off x="5299511" y="2428839"/>
              <a:ext cx="1596851" cy="409175"/>
            </a:xfrm>
            <a:prstGeom prst="rect">
              <a:avLst/>
            </a:prstGeom>
            <a:solidFill>
              <a:srgbClr val="D883FF"/>
            </a:solidFill>
            <a:ln>
              <a:solidFill>
                <a:srgbClr val="D88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Encoder</a:t>
              </a:r>
            </a:p>
          </p:txBody>
        </p:sp>
      </p:grp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4872F23-B3A4-694E-B760-AB210B38A45F}"/>
              </a:ext>
            </a:extLst>
          </p:cNvPr>
          <p:cNvCxnSpPr>
            <a:cxnSpLocks/>
            <a:endCxn id="21" idx="2"/>
          </p:cNvCxnSpPr>
          <p:nvPr/>
        </p:nvCxnSpPr>
        <p:spPr>
          <a:xfrm rot="5400000" flipH="1" flipV="1">
            <a:off x="3251861" y="1251727"/>
            <a:ext cx="395067" cy="4235729"/>
          </a:xfrm>
          <a:prstGeom prst="bentConnector3">
            <a:avLst>
              <a:gd name="adj1" fmla="val -57864"/>
            </a:avLst>
          </a:prstGeom>
          <a:ln w="19050"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11EFB88-AC27-1F47-94B7-FDA58C6B9982}"/>
              </a:ext>
            </a:extLst>
          </p:cNvPr>
          <p:cNvGrpSpPr/>
          <p:nvPr/>
        </p:nvGrpSpPr>
        <p:grpSpPr>
          <a:xfrm>
            <a:off x="7148958" y="2297405"/>
            <a:ext cx="1460444" cy="869191"/>
            <a:chOff x="5299511" y="2428838"/>
            <a:chExt cx="1596852" cy="1052908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51106B3-BADB-644E-9694-B2A1E8E3577B}"/>
                </a:ext>
              </a:extLst>
            </p:cNvPr>
            <p:cNvSpPr/>
            <p:nvPr/>
          </p:nvSpPr>
          <p:spPr>
            <a:xfrm>
              <a:off x="5299512" y="2835415"/>
              <a:ext cx="1596851" cy="64633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MLP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CEEE0BB7-3002-BB4A-8266-58D2BC037F05}"/>
                    </a:ext>
                  </a:extLst>
                </p:cNvPr>
                <p:cNvSpPr/>
                <p:nvPr/>
              </p:nvSpPr>
              <p:spPr>
                <a:xfrm>
                  <a:off x="5299511" y="2428838"/>
                  <a:ext cx="1596851" cy="409175"/>
                </a:xfrm>
                <a:prstGeom prst="rect">
                  <a:avLst/>
                </a:prstGeom>
                <a:solidFill>
                  <a:srgbClr val="D883FF"/>
                </a:solidFill>
                <a:ln>
                  <a:solidFill>
                    <a:srgbClr val="D883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  <a:sym typeface="Arial"/>
                    </a:rPr>
                    <a:t>Softmax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l-GR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𝜋</m:t>
                          </m:r>
                        </m:e>
                        <m:sub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𝜃</m:t>
                          </m:r>
                        </m:sub>
                      </m:sSub>
                    </m:oMath>
                  </a14:m>
                  <a:endPara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CEEE0BB7-3002-BB4A-8266-58D2BC037F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511" y="2428838"/>
                  <a:ext cx="1596851" cy="409175"/>
                </a:xfrm>
                <a:prstGeom prst="rect">
                  <a:avLst/>
                </a:prstGeom>
                <a:blipFill>
                  <a:blip r:embed="rId4"/>
                  <a:stretch>
                    <a:fillRect b="-10714"/>
                  </a:stretch>
                </a:blipFill>
                <a:ln>
                  <a:solidFill>
                    <a:srgbClr val="D883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DC0AD09-0071-0D4A-819B-16FF60FEEB0C}"/>
              </a:ext>
            </a:extLst>
          </p:cNvPr>
          <p:cNvCxnSpPr>
            <a:stCxn id="54" idx="0"/>
            <a:endCxn id="65" idx="2"/>
          </p:cNvCxnSpPr>
          <p:nvPr/>
        </p:nvCxnSpPr>
        <p:spPr>
          <a:xfrm rot="16200000" flipH="1">
            <a:off x="6291356" y="1578771"/>
            <a:ext cx="863728" cy="2311922"/>
          </a:xfrm>
          <a:prstGeom prst="bentConnector5">
            <a:avLst>
              <a:gd name="adj1" fmla="val -26467"/>
              <a:gd name="adj2" fmla="val 50000"/>
              <a:gd name="adj3" fmla="val 12646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41C112C0-734F-A843-A764-840C3957F2F6}"/>
              </a:ext>
            </a:extLst>
          </p:cNvPr>
          <p:cNvSpPr/>
          <p:nvPr/>
        </p:nvSpPr>
        <p:spPr>
          <a:xfrm>
            <a:off x="7148958" y="1436209"/>
            <a:ext cx="1460443" cy="337780"/>
          </a:xfrm>
          <a:prstGeom prst="rect">
            <a:avLst/>
          </a:prstGeom>
          <a:solidFill>
            <a:srgbClr val="FFFD78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Selected flows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CF58C6C-337F-9549-A2CA-E05271D24CC7}"/>
              </a:ext>
            </a:extLst>
          </p:cNvPr>
          <p:cNvGraphicFramePr>
            <a:graphicFrameLocks noGrp="1"/>
          </p:cNvGraphicFramePr>
          <p:nvPr/>
        </p:nvGraphicFramePr>
        <p:xfrm>
          <a:off x="1057408" y="1295373"/>
          <a:ext cx="1116396" cy="95177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372132">
                  <a:extLst>
                    <a:ext uri="{9D8B030D-6E8A-4147-A177-3AD203B41FA5}">
                      <a16:colId xmlns:a16="http://schemas.microsoft.com/office/drawing/2014/main" val="4161805597"/>
                    </a:ext>
                  </a:extLst>
                </a:gridCol>
                <a:gridCol w="372132">
                  <a:extLst>
                    <a:ext uri="{9D8B030D-6E8A-4147-A177-3AD203B41FA5}">
                      <a16:colId xmlns:a16="http://schemas.microsoft.com/office/drawing/2014/main" val="520095437"/>
                    </a:ext>
                  </a:extLst>
                </a:gridCol>
                <a:gridCol w="372132">
                  <a:extLst>
                    <a:ext uri="{9D8B030D-6E8A-4147-A177-3AD203B41FA5}">
                      <a16:colId xmlns:a16="http://schemas.microsoft.com/office/drawing/2014/main" val="2875124663"/>
                    </a:ext>
                  </a:extLst>
                </a:gridCol>
              </a:tblGrid>
              <a:tr h="317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590521"/>
                  </a:ext>
                </a:extLst>
              </a:tr>
              <a:tr h="317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445569"/>
                  </a:ext>
                </a:extLst>
              </a:tr>
              <a:tr h="3172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324523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8354245E-E616-8540-A3DC-1F7EEE0B9C47}"/>
              </a:ext>
            </a:extLst>
          </p:cNvPr>
          <p:cNvSpPr txBox="1"/>
          <p:nvPr/>
        </p:nvSpPr>
        <p:spPr>
          <a:xfrm>
            <a:off x="264731" y="1512379"/>
            <a:ext cx="692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Link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Status</a:t>
            </a:r>
          </a:p>
        </p:txBody>
      </p:sp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07AA74A9-E877-9346-8FBE-7F4EF8AFBB99}"/>
              </a:ext>
            </a:extLst>
          </p:cNvPr>
          <p:cNvGraphicFramePr>
            <a:graphicFrameLocks noGrp="1"/>
          </p:cNvGraphicFramePr>
          <p:nvPr/>
        </p:nvGraphicFramePr>
        <p:xfrm>
          <a:off x="1057408" y="2402292"/>
          <a:ext cx="1116396" cy="101566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372132">
                  <a:extLst>
                    <a:ext uri="{9D8B030D-6E8A-4147-A177-3AD203B41FA5}">
                      <a16:colId xmlns:a16="http://schemas.microsoft.com/office/drawing/2014/main" val="4161805597"/>
                    </a:ext>
                  </a:extLst>
                </a:gridCol>
                <a:gridCol w="372132">
                  <a:extLst>
                    <a:ext uri="{9D8B030D-6E8A-4147-A177-3AD203B41FA5}">
                      <a16:colId xmlns:a16="http://schemas.microsoft.com/office/drawing/2014/main" val="520095437"/>
                    </a:ext>
                  </a:extLst>
                </a:gridCol>
                <a:gridCol w="372132">
                  <a:extLst>
                    <a:ext uri="{9D8B030D-6E8A-4147-A177-3AD203B41FA5}">
                      <a16:colId xmlns:a16="http://schemas.microsoft.com/office/drawing/2014/main" val="2875124663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2.2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3.6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590521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3.2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6.8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445569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6.3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8.9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8228" marR="78228" marT="39114" marB="391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324523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B8A5F7A6-EF9D-4746-AC2E-86C320537A89}"/>
              </a:ext>
            </a:extLst>
          </p:cNvPr>
          <p:cNvSpPr txBox="1"/>
          <p:nvPr/>
        </p:nvSpPr>
        <p:spPr>
          <a:xfrm>
            <a:off x="264731" y="2607136"/>
            <a:ext cx="731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Traffic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Matrix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18E5C6B-C032-C047-A95A-AF678599BBDE}"/>
              </a:ext>
            </a:extLst>
          </p:cNvPr>
          <p:cNvCxnSpPr>
            <a:stCxn id="66" idx="0"/>
            <a:endCxn id="69" idx="2"/>
          </p:cNvCxnSpPr>
          <p:nvPr/>
        </p:nvCxnSpPr>
        <p:spPr>
          <a:xfrm flipV="1">
            <a:off x="7879180" y="1773989"/>
            <a:ext cx="0" cy="5234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C3787A8-ACCD-3F4E-A7C7-083804F702E6}"/>
              </a:ext>
            </a:extLst>
          </p:cNvPr>
          <p:cNvCxnSpPr>
            <a:cxnSpLocks/>
          </p:cNvCxnSpPr>
          <p:nvPr/>
        </p:nvCxnSpPr>
        <p:spPr>
          <a:xfrm flipH="1" flipV="1">
            <a:off x="4359965" y="1112060"/>
            <a:ext cx="477072" cy="1185347"/>
          </a:xfrm>
          <a:prstGeom prst="line">
            <a:avLst/>
          </a:prstGeom>
          <a:ln w="31750">
            <a:solidFill>
              <a:schemeClr val="accent1">
                <a:shade val="95000"/>
                <a:satMod val="10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F1FB8FE-96A6-6F45-AB1C-30B5417CBB23}"/>
              </a:ext>
            </a:extLst>
          </p:cNvPr>
          <p:cNvCxnSpPr/>
          <p:nvPr/>
        </p:nvCxnSpPr>
        <p:spPr>
          <a:xfrm flipV="1">
            <a:off x="4359965" y="3186474"/>
            <a:ext cx="463820" cy="87129"/>
          </a:xfrm>
          <a:prstGeom prst="line">
            <a:avLst/>
          </a:prstGeom>
          <a:ln w="317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Google Shape;197;p16">
                <a:extLst>
                  <a:ext uri="{FF2B5EF4-FFF2-40B4-BE49-F238E27FC236}">
                    <a16:creationId xmlns:a16="http://schemas.microsoft.com/office/drawing/2014/main" id="{9844501F-3A3D-F847-805A-57FBF0E8641A}"/>
                  </a:ext>
                </a:extLst>
              </p:cNvPr>
              <p:cNvSpPr txBox="1"/>
              <p:nvPr/>
            </p:nvSpPr>
            <p:spPr>
              <a:xfrm>
                <a:off x="7148958" y="757096"/>
                <a:ext cx="1822764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Sample each action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ar-AE" sz="1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𝜋</m:t>
                        </m:r>
                      </m:e>
                      <m:sub>
                        <m:r>
                          <a:rPr kumimoji="0" lang="ar-AE" sz="1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𝜃</m:t>
                        </m:r>
                      </m:sub>
                    </m:sSub>
                  </m:oMath>
                </a14:m>
                <a:endParaRPr kumimoji="0" lang="ar-A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13" name="Google Shape;197;p16">
                <a:extLst>
                  <a:ext uri="{FF2B5EF4-FFF2-40B4-BE49-F238E27FC236}">
                    <a16:creationId xmlns:a16="http://schemas.microsoft.com/office/drawing/2014/main" id="{9844501F-3A3D-F847-805A-57FBF0E86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958" y="757096"/>
                <a:ext cx="1822764" cy="646331"/>
              </a:xfrm>
              <a:prstGeom prst="rect">
                <a:avLst/>
              </a:prstGeom>
              <a:blipFill>
                <a:blip r:embed="rId5"/>
                <a:stretch>
                  <a:fillRect t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Google Shape;197;p16">
            <a:extLst>
              <a:ext uri="{FF2B5EF4-FFF2-40B4-BE49-F238E27FC236}">
                <a16:creationId xmlns:a16="http://schemas.microsoft.com/office/drawing/2014/main" id="{A2093D39-6CDA-1C48-85A0-6EB982F411F6}"/>
              </a:ext>
            </a:extLst>
          </p:cNvPr>
          <p:cNvSpPr txBox="1"/>
          <p:nvPr/>
        </p:nvSpPr>
        <p:spPr>
          <a:xfrm>
            <a:off x="4591875" y="3961358"/>
            <a:ext cx="1988506" cy="91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Learn the feature representations by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self-attention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(Attention is all you need!)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2955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1/10/2020</a:t>
            </a:r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Learn a Critical Flow Selection Algorithm</a:t>
            </a:r>
            <a:endParaRPr/>
          </a:p>
        </p:txBody>
      </p:sp>
      <p:pic>
        <p:nvPicPr>
          <p:cNvPr id="256" name="Google Shape;25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6938" y="3267731"/>
            <a:ext cx="5114961" cy="59355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9"/>
          <p:cNvSpPr txBox="1"/>
          <p:nvPr/>
        </p:nvSpPr>
        <p:spPr>
          <a:xfrm>
            <a:off x="1666712" y="3915187"/>
            <a:ext cx="1325046" cy="6621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460" t="-1834" b="-275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258" name="Google Shape;258;p19"/>
          <p:cNvCxnSpPr/>
          <p:nvPr/>
        </p:nvCxnSpPr>
        <p:spPr>
          <a:xfrm>
            <a:off x="2112089" y="3719978"/>
            <a:ext cx="0" cy="19520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59" name="Google Shape;259;p19"/>
          <p:cNvCxnSpPr/>
          <p:nvPr/>
        </p:nvCxnSpPr>
        <p:spPr>
          <a:xfrm>
            <a:off x="4468296" y="3719977"/>
            <a:ext cx="0" cy="19520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60" name="Google Shape;260;p19"/>
          <p:cNvSpPr txBox="1"/>
          <p:nvPr/>
        </p:nvSpPr>
        <p:spPr>
          <a:xfrm>
            <a:off x="4027195" y="3961733"/>
            <a:ext cx="132504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Advantage for variance reduction</a:t>
            </a:r>
            <a:endParaRPr dirty="0"/>
          </a:p>
        </p:txBody>
      </p:sp>
      <p:cxnSp>
        <p:nvCxnSpPr>
          <p:cNvPr id="261" name="Google Shape;261;p19"/>
          <p:cNvCxnSpPr/>
          <p:nvPr/>
        </p:nvCxnSpPr>
        <p:spPr>
          <a:xfrm>
            <a:off x="5910102" y="3719977"/>
            <a:ext cx="0" cy="19520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62" name="Google Shape;262;p19"/>
          <p:cNvSpPr txBox="1"/>
          <p:nvPr/>
        </p:nvSpPr>
        <p:spPr>
          <a:xfrm>
            <a:off x="5384712" y="3915187"/>
            <a:ext cx="271205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This term can improve exploration by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discouraging premature convergence to suboptimal deterministic policies</a:t>
            </a:r>
            <a:endParaRPr/>
          </a:p>
        </p:txBody>
      </p:sp>
      <p:cxnSp>
        <p:nvCxnSpPr>
          <p:cNvPr id="265" name="Google Shape;265;p19"/>
          <p:cNvCxnSpPr/>
          <p:nvPr/>
        </p:nvCxnSpPr>
        <p:spPr>
          <a:xfrm>
            <a:off x="2068606" y="3653040"/>
            <a:ext cx="161636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67" name="Google Shape;267;p19"/>
          <p:cNvCxnSpPr/>
          <p:nvPr/>
        </p:nvCxnSpPr>
        <p:spPr>
          <a:xfrm>
            <a:off x="4132933" y="3701504"/>
            <a:ext cx="692727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68" name="Google Shape;268;p19"/>
          <p:cNvCxnSpPr/>
          <p:nvPr/>
        </p:nvCxnSpPr>
        <p:spPr>
          <a:xfrm>
            <a:off x="5259681" y="3701504"/>
            <a:ext cx="1136161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69" name="Google Shape;269;p19"/>
          <p:cNvCxnSpPr/>
          <p:nvPr/>
        </p:nvCxnSpPr>
        <p:spPr>
          <a:xfrm rot="10800000">
            <a:off x="4920190" y="3267731"/>
            <a:ext cx="242266" cy="212547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70" name="Google Shape;270;p19"/>
          <p:cNvSpPr txBox="1"/>
          <p:nvPr/>
        </p:nvSpPr>
        <p:spPr>
          <a:xfrm>
            <a:off x="4002616" y="2841924"/>
            <a:ext cx="118908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Entropy factor set to 0.1</a:t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5465908" y="2859128"/>
            <a:ext cx="23839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is the entropy (the probability distribution over actions)</a:t>
            </a:r>
            <a:endParaRPr/>
          </a:p>
        </p:txBody>
      </p:sp>
      <p:cxnSp>
        <p:nvCxnSpPr>
          <p:cNvPr id="272" name="Google Shape;272;p19"/>
          <p:cNvCxnSpPr/>
          <p:nvPr/>
        </p:nvCxnSpPr>
        <p:spPr>
          <a:xfrm rot="10800000" flipH="1">
            <a:off x="5534408" y="3275328"/>
            <a:ext cx="258618" cy="17040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75" name="Google Shape;275;p19"/>
          <p:cNvSpPr txBox="1"/>
          <p:nvPr/>
        </p:nvSpPr>
        <p:spPr>
          <a:xfrm>
            <a:off x="2364325" y="2903916"/>
            <a:ext cx="15176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Sum over K actions</a:t>
            </a:r>
            <a:endParaRPr/>
          </a:p>
        </p:txBody>
      </p:sp>
      <p:cxnSp>
        <p:nvCxnSpPr>
          <p:cNvPr id="276" name="Google Shape;276;p19"/>
          <p:cNvCxnSpPr/>
          <p:nvPr/>
        </p:nvCxnSpPr>
        <p:spPr>
          <a:xfrm rot="10800000" flipH="1">
            <a:off x="2768444" y="3158503"/>
            <a:ext cx="203641" cy="20294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720CB-AE2F-7B43-A6F2-00C751086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136" y="1045029"/>
            <a:ext cx="8449210" cy="1650331"/>
          </a:xfrm>
        </p:spPr>
        <p:txBody>
          <a:bodyPr/>
          <a:lstStyle/>
          <a:p>
            <a:r>
              <a:rPr lang="en-US" dirty="0"/>
              <a:t>We train the agent using policy gradient (Actor-Critic method)</a:t>
            </a:r>
          </a:p>
          <a:p>
            <a:r>
              <a:rPr lang="en-US" dirty="0"/>
              <a:t>Maximize the reward using gradient ascend </a:t>
            </a:r>
          </a:p>
        </p:txBody>
      </p:sp>
    </p:spTree>
    <p:extLst>
      <p:ext uri="{BB962C8B-B14F-4D97-AF65-F5344CB8AC3E}">
        <p14:creationId xmlns:p14="http://schemas.microsoft.com/office/powerpoint/2010/main" val="571519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>
            <a:spLocks noGrp="1"/>
          </p:cNvSpPr>
          <p:nvPr>
            <p:ph type="dt" idx="10"/>
          </p:nvPr>
        </p:nvSpPr>
        <p:spPr>
          <a:xfrm>
            <a:off x="368136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1/10/2020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5" name="Google Shape;215;p18"/>
          <p:cNvSpPr txBox="1">
            <a:spLocks noGrp="1"/>
          </p:cNvSpPr>
          <p:nvPr>
            <p:ph type="sldNum" idx="12"/>
          </p:nvPr>
        </p:nvSpPr>
        <p:spPr>
          <a:xfrm>
            <a:off x="6683746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6" name="Google Shape;216;p18"/>
          <p:cNvSpPr txBox="1">
            <a:spLocks noGrp="1"/>
          </p:cNvSpPr>
          <p:nvPr>
            <p:ph type="body" idx="2"/>
          </p:nvPr>
        </p:nvSpPr>
        <p:spPr>
          <a:xfrm>
            <a:off x="2057400" y="155449"/>
            <a:ext cx="6860053" cy="4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Panacea</a:t>
            </a:r>
            <a:endParaRPr dirty="0"/>
          </a:p>
        </p:txBody>
      </p:sp>
      <p:sp>
        <p:nvSpPr>
          <p:cNvPr id="217" name="Google Shape;217;p18"/>
          <p:cNvSpPr txBox="1">
            <a:spLocks noGrp="1"/>
          </p:cNvSpPr>
          <p:nvPr>
            <p:ph type="body" idx="1"/>
          </p:nvPr>
        </p:nvSpPr>
        <p:spPr>
          <a:xfrm>
            <a:off x="441557" y="989086"/>
            <a:ext cx="8475896" cy="20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❑"/>
            </a:pPr>
            <a:r>
              <a:rPr lang="en-US" sz="1600" dirty="0"/>
              <a:t>We spawn </a:t>
            </a:r>
            <a:r>
              <a:rPr lang="en-US" sz="1600" dirty="0">
                <a:solidFill>
                  <a:srgbClr val="FF0000"/>
                </a:solidFill>
              </a:rPr>
              <a:t>20 actor agents </a:t>
            </a:r>
            <a:r>
              <a:rPr lang="en-US" sz="1600" dirty="0"/>
              <a:t>in parallel to speed up the training process</a:t>
            </a:r>
            <a:endParaRPr dirty="0"/>
          </a:p>
          <a:p>
            <a:pPr marL="800100" lvl="1" indent="-3429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dirty="0"/>
              <a:t>Each actor agent is configured to </a:t>
            </a:r>
            <a:r>
              <a:rPr lang="en-US" sz="1600" dirty="0">
                <a:solidFill>
                  <a:srgbClr val="FF0000"/>
                </a:solidFill>
              </a:rPr>
              <a:t>experience a different set of TMs</a:t>
            </a:r>
            <a:endParaRPr dirty="0"/>
          </a:p>
          <a:p>
            <a:pPr marL="800100" lvl="1" indent="-342900">
              <a:spcBef>
                <a:spcPts val="0"/>
              </a:spcBef>
              <a:buSzPts val="1600"/>
              <a:buFont typeface="Arial"/>
              <a:buAutoNum type="arabicPeriod"/>
            </a:pPr>
            <a:r>
              <a:rPr lang="en-US" sz="1600" dirty="0"/>
              <a:t>The central agent collects the experience tuples (state, action, reward) from actor agents and </a:t>
            </a:r>
            <a:r>
              <a:rPr lang="en-US" sz="1600" dirty="0">
                <a:solidFill>
                  <a:srgbClr val="FF0000"/>
                </a:solidFill>
              </a:rPr>
              <a:t>aggregates them to train the policy neural network</a:t>
            </a:r>
            <a:endParaRPr dirty="0"/>
          </a:p>
          <a:p>
            <a:pPr marL="8001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dirty="0"/>
              <a:t>The updated parameters are then sent back to the actor agents</a:t>
            </a:r>
            <a:endParaRPr dirty="0"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❑"/>
            </a:pPr>
            <a:r>
              <a:rPr lang="en-US" sz="1600" dirty="0"/>
              <a:t>Suppose there are 200 TMs in the training set. Each cycle is one iteration:</a:t>
            </a:r>
            <a:endParaRPr dirty="0"/>
          </a:p>
        </p:txBody>
      </p:sp>
      <p:pic>
        <p:nvPicPr>
          <p:cNvPr id="218" name="Google Shape;2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205" y="3114633"/>
            <a:ext cx="305617" cy="40329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2057400" y="2837634"/>
            <a:ext cx="146044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Central Agent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20" name="Google Shape;2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171" y="4225465"/>
            <a:ext cx="305617" cy="40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453" y="4218484"/>
            <a:ext cx="305617" cy="40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2870" y="4218484"/>
            <a:ext cx="305617" cy="40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8357" y="4218484"/>
            <a:ext cx="305617" cy="40329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 txBox="1"/>
          <p:nvPr/>
        </p:nvSpPr>
        <p:spPr>
          <a:xfrm>
            <a:off x="2325336" y="4240503"/>
            <a:ext cx="5447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……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1971134" y="4094707"/>
            <a:ext cx="146044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 Actor Agents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26" name="Google Shape;226;p18"/>
          <p:cNvCxnSpPr/>
          <p:nvPr/>
        </p:nvCxnSpPr>
        <p:spPr>
          <a:xfrm rot="10800000" flipH="1">
            <a:off x="1195112" y="3445940"/>
            <a:ext cx="1130224" cy="71614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8"/>
          <p:cNvCxnSpPr/>
          <p:nvPr/>
        </p:nvCxnSpPr>
        <p:spPr>
          <a:xfrm rot="10800000" flipH="1">
            <a:off x="1812747" y="3590804"/>
            <a:ext cx="678517" cy="57128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8"/>
          <p:cNvCxnSpPr/>
          <p:nvPr/>
        </p:nvCxnSpPr>
        <p:spPr>
          <a:xfrm rot="10800000">
            <a:off x="2659969" y="3590804"/>
            <a:ext cx="646791" cy="5785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9" name="Google Shape;229;p18"/>
          <p:cNvCxnSpPr/>
          <p:nvPr/>
        </p:nvCxnSpPr>
        <p:spPr>
          <a:xfrm rot="10800000">
            <a:off x="2870061" y="3445939"/>
            <a:ext cx="1097099" cy="6956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30" name="Google Shape;23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4318" y="3114633"/>
            <a:ext cx="305617" cy="40329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/>
          <p:nvPr/>
        </p:nvSpPr>
        <p:spPr>
          <a:xfrm>
            <a:off x="6010513" y="2837634"/>
            <a:ext cx="146044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Central Agent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2" name="Google Shape;23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1284" y="4225465"/>
            <a:ext cx="305617" cy="40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1566" y="4218484"/>
            <a:ext cx="305617" cy="40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5983" y="4218484"/>
            <a:ext cx="305617" cy="40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1470" y="4218484"/>
            <a:ext cx="305617" cy="40329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/>
          <p:nvPr/>
        </p:nvSpPr>
        <p:spPr>
          <a:xfrm>
            <a:off x="6278449" y="4240503"/>
            <a:ext cx="5447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……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5924247" y="4094707"/>
            <a:ext cx="146044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 Actor Agents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38" name="Google Shape;238;p18"/>
          <p:cNvCxnSpPr/>
          <p:nvPr/>
        </p:nvCxnSpPr>
        <p:spPr>
          <a:xfrm flipH="1">
            <a:off x="5105460" y="3445939"/>
            <a:ext cx="1182132" cy="7234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9" name="Google Shape;239;p18"/>
          <p:cNvCxnSpPr/>
          <p:nvPr/>
        </p:nvCxnSpPr>
        <p:spPr>
          <a:xfrm flipH="1">
            <a:off x="5723918" y="3567033"/>
            <a:ext cx="660400" cy="60234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0" name="Google Shape;240;p18"/>
          <p:cNvCxnSpPr/>
          <p:nvPr/>
        </p:nvCxnSpPr>
        <p:spPr>
          <a:xfrm>
            <a:off x="6687885" y="3567033"/>
            <a:ext cx="622218" cy="5602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1" name="Google Shape;241;p18"/>
          <p:cNvCxnSpPr/>
          <p:nvPr/>
        </p:nvCxnSpPr>
        <p:spPr>
          <a:xfrm>
            <a:off x="6788179" y="3445939"/>
            <a:ext cx="1163193" cy="69350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2" name="Google Shape;242;p18"/>
          <p:cNvSpPr txBox="1"/>
          <p:nvPr/>
        </p:nvSpPr>
        <p:spPr>
          <a:xfrm>
            <a:off x="1421651" y="4656345"/>
            <a:ext cx="24766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Each actor experience a different set of 200/20 = 10 TMs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533469" y="3470438"/>
            <a:ext cx="17083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Collect the experiences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7425892" y="3396600"/>
            <a:ext cx="17083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Send back the updated parameters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3801502" y="2974329"/>
            <a:ext cx="1606741" cy="49132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8"/>
          <p:cNvSpPr/>
          <p:nvPr/>
        </p:nvSpPr>
        <p:spPr>
          <a:xfrm rot="10800000">
            <a:off x="3749198" y="3537640"/>
            <a:ext cx="1606741" cy="49132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3915688" y="3355195"/>
            <a:ext cx="146044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Iteration 1, 2, 3…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Rerouting Critical Flows</a:t>
            </a:r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6" y="989086"/>
            <a:ext cx="8219559" cy="3669846"/>
          </a:xfrm>
        </p:spPr>
        <p:txBody>
          <a:bodyPr/>
          <a:lstStyle/>
          <a:p>
            <a:r>
              <a:rPr lang="en-US" sz="1600" dirty="0"/>
              <a:t>After selecting critical flows, we need to </a:t>
            </a:r>
            <a:r>
              <a:rPr lang="en-US" sz="1600"/>
              <a:t>reroute them to achieve load balancing</a:t>
            </a:r>
            <a:endParaRPr lang="en-US" sz="1600" dirty="0"/>
          </a:p>
          <a:p>
            <a:r>
              <a:rPr lang="en-US" altLang="zh-CN" sz="1600"/>
              <a:t>The </a:t>
            </a:r>
            <a:r>
              <a:rPr lang="en-US" altLang="zh-CN" sz="1600" dirty="0">
                <a:solidFill>
                  <a:srgbClr val="FF0000"/>
                </a:solidFill>
              </a:rPr>
              <a:t>optimal multipath routing </a:t>
            </a:r>
            <a:r>
              <a:rPr lang="en-US" altLang="zh-CN" sz="1600">
                <a:solidFill>
                  <a:srgbClr val="FF0000"/>
                </a:solidFill>
              </a:rPr>
              <a:t>solution </a:t>
            </a:r>
            <a:r>
              <a:rPr lang="en-US" altLang="zh-CN" sz="1600"/>
              <a:t>can be derived from LP for all critical flows.</a:t>
            </a:r>
            <a:endParaRPr lang="en-US" altLang="zh-CN" sz="1600" dirty="0"/>
          </a:p>
          <a:p>
            <a:r>
              <a:rPr lang="en-US" sz="1600"/>
              <a:t>The </a:t>
            </a:r>
            <a:r>
              <a:rPr lang="en-US" sz="1600" dirty="0"/>
              <a:t>remaining flows running ECMP are regarded as </a:t>
            </a:r>
            <a:r>
              <a:rPr lang="en-US" sz="1600" dirty="0">
                <a:solidFill>
                  <a:srgbClr val="FF0000"/>
                </a:solidFill>
              </a:rPr>
              <a:t>background traffic</a:t>
            </a:r>
            <a:r>
              <a:rPr lang="en-US" sz="1600" dirty="0"/>
              <a:t>.</a:t>
            </a:r>
          </a:p>
          <a:p>
            <a:r>
              <a:rPr lang="en-US" sz="1600" dirty="0"/>
              <a:t>Here are some notations: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92F4A5-C80F-4B86-B142-B43870BD4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721" y="2824009"/>
            <a:ext cx="5984557" cy="170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33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LP Formulation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EFB78-0648-445B-9D94-10C1D7172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15" y="1096721"/>
            <a:ext cx="7032661" cy="3599046"/>
          </a:xfrm>
          <a:prstGeom prst="rect">
            <a:avLst/>
          </a:prstGeom>
        </p:spPr>
      </p:pic>
      <p:sp>
        <p:nvSpPr>
          <p:cNvPr id="7" name="文本框 7">
            <a:extLst>
              <a:ext uri="{FF2B5EF4-FFF2-40B4-BE49-F238E27FC236}">
                <a16:creationId xmlns:a16="http://schemas.microsoft.com/office/drawing/2014/main" id="{B8710706-7575-4A17-9A0A-26FA8324A48F}"/>
              </a:ext>
            </a:extLst>
          </p:cNvPr>
          <p:cNvSpPr txBox="1"/>
          <p:nvPr/>
        </p:nvSpPr>
        <p:spPr>
          <a:xfrm>
            <a:off x="1975411" y="2027037"/>
            <a:ext cx="157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Link load on link (</a:t>
            </a:r>
            <a:r>
              <a:rPr lang="en-US" sz="1200" dirty="0" err="1">
                <a:solidFill>
                  <a:srgbClr val="0070C0"/>
                </a:solidFill>
              </a:rPr>
              <a:t>i</a:t>
            </a:r>
            <a:r>
              <a:rPr lang="en-US" sz="1200" dirty="0">
                <a:solidFill>
                  <a:srgbClr val="0070C0"/>
                </a:solidFill>
              </a:rPr>
              <a:t>, j)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2D2B6B-F7FC-40CD-A730-92473877FBC6}"/>
              </a:ext>
            </a:extLst>
          </p:cNvPr>
          <p:cNvSpPr txBox="1"/>
          <p:nvPr/>
        </p:nvSpPr>
        <p:spPr>
          <a:xfrm>
            <a:off x="1434936" y="2534677"/>
            <a:ext cx="2533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link capacity utilization constraint</a:t>
            </a:r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C1631CF6-6DE3-4DE9-9212-5D5DA621F13D}"/>
              </a:ext>
            </a:extLst>
          </p:cNvPr>
          <p:cNvSpPr txBox="1"/>
          <p:nvPr/>
        </p:nvSpPr>
        <p:spPr>
          <a:xfrm>
            <a:off x="1166115" y="3217504"/>
            <a:ext cx="2133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flow conservation constraint</a:t>
            </a:r>
          </a:p>
          <a:p>
            <a:r>
              <a:rPr lang="en-US" sz="1200" dirty="0">
                <a:solidFill>
                  <a:srgbClr val="0070C0"/>
                </a:solidFill>
              </a:rPr>
              <a:t>for critical flows</a:t>
            </a:r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6BE5195F-93BF-4BE2-8CF1-BD6448C3D5F2}"/>
              </a:ext>
            </a:extLst>
          </p:cNvPr>
          <p:cNvSpPr txBox="1"/>
          <p:nvPr/>
        </p:nvSpPr>
        <p:spPr>
          <a:xfrm>
            <a:off x="2378801" y="4004361"/>
            <a:ext cx="1589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Split ratio constraint</a:t>
            </a:r>
          </a:p>
        </p:txBody>
      </p:sp>
      <p:sp>
        <p:nvSpPr>
          <p:cNvPr id="11" name="文本框 7">
            <a:extLst>
              <a:ext uri="{FF2B5EF4-FFF2-40B4-BE49-F238E27FC236}">
                <a16:creationId xmlns:a16="http://schemas.microsoft.com/office/drawing/2014/main" id="{804AB96B-8183-4764-BF70-138AB36E28DB}"/>
              </a:ext>
            </a:extLst>
          </p:cNvPr>
          <p:cNvSpPr txBox="1"/>
          <p:nvPr/>
        </p:nvSpPr>
        <p:spPr>
          <a:xfrm>
            <a:off x="2057400" y="1205991"/>
            <a:ext cx="1147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Minimize MLU</a:t>
            </a:r>
          </a:p>
        </p:txBody>
      </p:sp>
      <p:sp>
        <p:nvSpPr>
          <p:cNvPr id="12" name="文本框 7">
            <a:extLst>
              <a:ext uri="{FF2B5EF4-FFF2-40B4-BE49-F238E27FC236}">
                <a16:creationId xmlns:a16="http://schemas.microsoft.com/office/drawing/2014/main" id="{B0874964-CD9D-4942-9016-7E9AEB03536E}"/>
              </a:ext>
            </a:extLst>
          </p:cNvPr>
          <p:cNvSpPr txBox="1"/>
          <p:nvPr/>
        </p:nvSpPr>
        <p:spPr>
          <a:xfrm>
            <a:off x="4859867" y="742051"/>
            <a:ext cx="1490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Avoid unnecessary long paths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CB73D5-AD9D-42AD-8BCE-F9B05404D39E}"/>
              </a:ext>
            </a:extLst>
          </p:cNvPr>
          <p:cNvCxnSpPr/>
          <p:nvPr/>
        </p:nvCxnSpPr>
        <p:spPr>
          <a:xfrm>
            <a:off x="4673600" y="1689619"/>
            <a:ext cx="13800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230B15-E574-4406-9AC6-63D6E0867D9E}"/>
              </a:ext>
            </a:extLst>
          </p:cNvPr>
          <p:cNvCxnSpPr>
            <a:cxnSpLocks/>
          </p:cNvCxnSpPr>
          <p:nvPr/>
        </p:nvCxnSpPr>
        <p:spPr>
          <a:xfrm>
            <a:off x="5487426" y="2300322"/>
            <a:ext cx="152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7">
            <a:extLst>
              <a:ext uri="{FF2B5EF4-FFF2-40B4-BE49-F238E27FC236}">
                <a16:creationId xmlns:a16="http://schemas.microsoft.com/office/drawing/2014/main" id="{298C9B02-F47B-455A-BC65-7E6CAC84F2BF}"/>
              </a:ext>
            </a:extLst>
          </p:cNvPr>
          <p:cNvSpPr txBox="1"/>
          <p:nvPr/>
        </p:nvSpPr>
        <p:spPr>
          <a:xfrm>
            <a:off x="5757333" y="1934703"/>
            <a:ext cx="1490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Background traffic</a:t>
            </a:r>
          </a:p>
          <a:p>
            <a:r>
              <a:rPr lang="en-US" sz="1200" dirty="0">
                <a:solidFill>
                  <a:srgbClr val="0070C0"/>
                </a:solidFill>
              </a:rPr>
              <a:t>on link (</a:t>
            </a:r>
            <a:r>
              <a:rPr lang="en-US" sz="1200" dirty="0" err="1">
                <a:solidFill>
                  <a:srgbClr val="0070C0"/>
                </a:solidFill>
              </a:rPr>
              <a:t>i</a:t>
            </a:r>
            <a:r>
              <a:rPr lang="en-US" sz="1200" dirty="0">
                <a:solidFill>
                  <a:srgbClr val="0070C0"/>
                </a:solidFill>
              </a:rPr>
              <a:t>, j)</a:t>
            </a:r>
          </a:p>
        </p:txBody>
      </p:sp>
    </p:spTree>
    <p:extLst>
      <p:ext uri="{BB962C8B-B14F-4D97-AF65-F5344CB8AC3E}">
        <p14:creationId xmlns:p14="http://schemas.microsoft.com/office/powerpoint/2010/main" val="3705252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>
          <a:xfrm>
            <a:off x="368136" y="4767263"/>
            <a:ext cx="944718" cy="274637"/>
          </a:xfrm>
        </p:spPr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Topologies</a:t>
            </a:r>
            <a:endParaRPr lang="en-US" dirty="0"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5" y="989086"/>
            <a:ext cx="8250382" cy="36698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1600"/>
              <a:t>Panacea </a:t>
            </a:r>
            <a:r>
              <a:rPr lang="en-US" altLang="zh-CN" sz="1600" dirty="0"/>
              <a:t>is tested </a:t>
            </a:r>
            <a:r>
              <a:rPr lang="en-US" altLang="zh-CN" sz="1600"/>
              <a:t>on a </a:t>
            </a:r>
            <a:r>
              <a:rPr lang="en-US" altLang="zh-CN" sz="1600" u="sng"/>
              <a:t>real-world network topology</a:t>
            </a:r>
            <a:endParaRPr lang="en-US" altLang="zh-CN" sz="1600" u="sng" dirty="0"/>
          </a:p>
          <a:p>
            <a:pPr lvl="1"/>
            <a:r>
              <a:rPr lang="en-US" altLang="zh-CN" sz="1600" dirty="0"/>
              <a:t>Abilene Network: 12 nodes, 30 directed links, 12 x 11 = </a:t>
            </a:r>
            <a:r>
              <a:rPr lang="en-US" altLang="zh-CN" sz="1600"/>
              <a:t>132 flows</a:t>
            </a:r>
          </a:p>
          <a:p>
            <a:pPr>
              <a:lnSpc>
                <a:spcPct val="100000"/>
              </a:lnSpc>
            </a:pPr>
            <a:r>
              <a:rPr lang="en-US" altLang="zh-CN" sz="1600"/>
              <a:t>The real traces are publicly available</a:t>
            </a:r>
          </a:p>
          <a:p>
            <a:pPr lvl="1"/>
            <a:r>
              <a:rPr lang="en-US" altLang="zh-CN" sz="1600"/>
              <a:t>Abilene TMs are measured </a:t>
            </a:r>
            <a:r>
              <a:rPr lang="en-US" altLang="zh-CN" sz="1600">
                <a:solidFill>
                  <a:srgbClr val="FF0000"/>
                </a:solidFill>
              </a:rPr>
              <a:t>every 5 minutes</a:t>
            </a:r>
          </a:p>
          <a:p>
            <a:pPr lvl="1"/>
            <a:r>
              <a:rPr lang="en-US" altLang="zh-CN" sz="1600"/>
              <a:t>Training set: 288 TMs in Mar. 1st 2004</a:t>
            </a:r>
          </a:p>
          <a:p>
            <a:pPr lvl="1"/>
            <a:r>
              <a:rPr lang="en-US" altLang="zh-CN" sz="1600"/>
              <a:t>Testing set: 288 TMs in Mar. 2nd 2004</a:t>
            </a:r>
            <a:endParaRPr lang="en-US" altLang="zh-CN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1600" dirty="0"/>
          </a:p>
        </p:txBody>
      </p:sp>
      <p:pic>
        <p:nvPicPr>
          <p:cNvPr id="1026" name="Picture 2" descr="Topology of the Abilene network. ">
            <a:extLst>
              <a:ext uri="{FF2B5EF4-FFF2-40B4-BE49-F238E27FC236}">
                <a16:creationId xmlns:a16="http://schemas.microsoft.com/office/drawing/2014/main" id="{8B3392C0-A32F-4AB3-9598-D689A9D5D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365" y="2752201"/>
            <a:ext cx="3163270" cy="196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7">
            <a:extLst>
              <a:ext uri="{FF2B5EF4-FFF2-40B4-BE49-F238E27FC236}">
                <a16:creationId xmlns:a16="http://schemas.microsoft.com/office/drawing/2014/main" id="{7B186211-D5E3-4278-B222-8F118921F148}"/>
              </a:ext>
            </a:extLst>
          </p:cNvPr>
          <p:cNvSpPr txBox="1"/>
          <p:nvPr/>
        </p:nvSpPr>
        <p:spPr>
          <a:xfrm>
            <a:off x="3643746" y="4772607"/>
            <a:ext cx="25338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There are 2 routers in Atlanta</a:t>
            </a:r>
          </a:p>
        </p:txBody>
      </p:sp>
    </p:spTree>
    <p:extLst>
      <p:ext uri="{BB962C8B-B14F-4D97-AF65-F5344CB8AC3E}">
        <p14:creationId xmlns:p14="http://schemas.microsoft.com/office/powerpoint/2010/main" val="1806649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Rule-based Heuristics</a:t>
            </a:r>
            <a:endParaRPr lang="en-US" dirty="0"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5" y="989086"/>
            <a:ext cx="8250382" cy="36698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1600" dirty="0"/>
              <a:t>2 rule-based heuristics are also evaluated for comparison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altLang="zh-CN" sz="1600" b="1" u="sng" dirty="0"/>
              <a:t>Top-K</a:t>
            </a:r>
            <a:r>
              <a:rPr lang="en-US" altLang="zh-CN" sz="1600" dirty="0"/>
              <a:t>: Selects the </a:t>
            </a:r>
            <a:r>
              <a:rPr lang="en-US" altLang="zh-CN" sz="1600" i="1" dirty="0"/>
              <a:t>K</a:t>
            </a:r>
            <a:r>
              <a:rPr lang="en-US" altLang="zh-CN" sz="1600" dirty="0"/>
              <a:t> largest flows from a given TM in terms of </a:t>
            </a:r>
            <a:r>
              <a:rPr lang="en-US" altLang="zh-CN" sz="1600" dirty="0">
                <a:solidFill>
                  <a:srgbClr val="FF0000"/>
                </a:solidFill>
              </a:rPr>
              <a:t>demand volume</a:t>
            </a:r>
            <a:r>
              <a:rPr lang="en-US" altLang="zh-CN" sz="1600" dirty="0"/>
              <a:t>. </a:t>
            </a:r>
          </a:p>
          <a:p>
            <a:pPr lvl="1"/>
            <a:r>
              <a:rPr lang="en-US" altLang="zh-CN" sz="1600" dirty="0"/>
              <a:t>Assumption: Flows with larger traffic volumes would have a dominate impact to network performance.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altLang="zh-CN" sz="1600" b="1" u="sng" dirty="0"/>
              <a:t>Top-K Critical</a:t>
            </a:r>
            <a:r>
              <a:rPr lang="en-US" altLang="zh-CN" sz="1600" dirty="0"/>
              <a:t>: Selects the </a:t>
            </a:r>
            <a:r>
              <a:rPr lang="en-US" altLang="zh-CN" sz="1600" i="1" dirty="0"/>
              <a:t>K</a:t>
            </a:r>
            <a:r>
              <a:rPr lang="en-US" altLang="zh-CN" sz="1600" dirty="0"/>
              <a:t> largest flows from the </a:t>
            </a:r>
            <a:r>
              <a:rPr lang="en-US" altLang="zh-CN" sz="1600" dirty="0">
                <a:solidFill>
                  <a:srgbClr val="FF0000"/>
                </a:solidFill>
              </a:rPr>
              <a:t>most congested links</a:t>
            </a:r>
            <a:r>
              <a:rPr lang="en-US" altLang="zh-CN" sz="1600" dirty="0"/>
              <a:t>. </a:t>
            </a:r>
          </a:p>
          <a:p>
            <a:pPr lvl="1"/>
            <a:r>
              <a:rPr lang="en-US" altLang="zh-CN" sz="1600" dirty="0"/>
              <a:t>Assumption: Flows traversing the most congested links would have a dominate impact to network performance.</a:t>
            </a:r>
          </a:p>
          <a:p>
            <a:pPr lvl="1"/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4235301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Evaluation Scheme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9">
                <a:extLst>
                  <a:ext uri="{FF2B5EF4-FFF2-40B4-BE49-F238E27FC236}">
                    <a16:creationId xmlns:a16="http://schemas.microsoft.com/office/drawing/2014/main" id="{A6957800-733A-4BFA-B820-4DA9D127D4C8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441555" y="989086"/>
                <a:ext cx="8083609" cy="3669846"/>
              </a:xfrm>
            </p:spPr>
            <p:txBody>
              <a:bodyPr/>
              <a:lstStyle/>
              <a:p>
                <a:r>
                  <a:rPr lang="en-US" altLang="zh-CN" sz="1600" dirty="0"/>
                  <a:t>All of the approaches</a:t>
                </a:r>
                <a:r>
                  <a:rPr lang="en-US" altLang="zh-CN" sz="1600"/>
                  <a:t>: </a:t>
                </a:r>
                <a:r>
                  <a:rPr lang="en-US" altLang="zh-CN" sz="1600" b="1"/>
                  <a:t>Panacea</a:t>
                </a:r>
                <a:r>
                  <a:rPr lang="en-US" altLang="zh-CN" sz="1600"/>
                  <a:t>, </a:t>
                </a:r>
                <a:r>
                  <a:rPr lang="en-US" altLang="zh-CN" sz="1600" b="1" dirty="0"/>
                  <a:t>Top-K</a:t>
                </a:r>
                <a:r>
                  <a:rPr lang="en-US" altLang="zh-CN" sz="1600" dirty="0"/>
                  <a:t>, </a:t>
                </a:r>
                <a:r>
                  <a:rPr lang="en-US" altLang="zh-CN" sz="1600" b="1" dirty="0"/>
                  <a:t>Top-K Critical </a:t>
                </a:r>
                <a:r>
                  <a:rPr lang="en-US" altLang="zh-CN" sz="1600" dirty="0"/>
                  <a:t>and </a:t>
                </a:r>
                <a:r>
                  <a:rPr lang="en-US" altLang="zh-CN" sz="1600" b="1" dirty="0"/>
                  <a:t>ECMP</a:t>
                </a:r>
                <a:r>
                  <a:rPr lang="en-US" altLang="zh-CN" sz="1600" dirty="0"/>
                  <a:t> are compared to the performance of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optimal explicit routing for all flows</a:t>
                </a:r>
              </a:p>
              <a:p>
                <a:r>
                  <a:rPr lang="en-US" altLang="zh-CN" sz="1600" b="1" u="sng" dirty="0"/>
                  <a:t>Performance Ratio</a:t>
                </a:r>
                <a:r>
                  <a:rPr lang="en-US" altLang="zh-CN" sz="16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𝑷𝑹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𝑶𝒑𝒕𝒊𝒎𝒂𝒍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𝑷𝒂𝒏𝒂𝒄𝒆𝒂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1600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𝒑𝒕𝒊𝒎𝒂𝒍</m:t>
                        </m:r>
                      </m:sub>
                    </m:sSub>
                  </m:oMath>
                </a14:m>
                <a:r>
                  <a:rPr lang="en-US" altLang="zh-CN" sz="1600"/>
                  <a:t>: MLU </a:t>
                </a:r>
                <a:r>
                  <a:rPr lang="en-US" altLang="zh-CN" sz="1600" dirty="0"/>
                  <a:t>achieved by an optimal explicit routing for all flows</a:t>
                </a:r>
                <a:endParaRPr lang="en-US" altLang="zh-CN" sz="1600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𝑷𝒂𝒏𝒂𝒄𝒆𝒂</m:t>
                        </m:r>
                      </m:sub>
                    </m:sSub>
                  </m:oMath>
                </a14:m>
                <a:r>
                  <a:rPr lang="en-US" altLang="zh-CN" sz="1600" dirty="0"/>
                  <a:t>: MLU achieved </a:t>
                </a:r>
                <a:r>
                  <a:rPr lang="en-US" altLang="zh-CN" sz="1600"/>
                  <a:t>by Panacea. </a:t>
                </a:r>
                <a:r>
                  <a:rPr lang="en-US" altLang="zh-CN" sz="1600" dirty="0"/>
                  <a:t>It can be replaced by the </a:t>
                </a:r>
                <a:r>
                  <a:rPr lang="en-US" altLang="zh-CN" sz="1600"/>
                  <a:t>MLU of other approaches to evaluate </a:t>
                </a:r>
                <a:r>
                  <a:rPr lang="en-US" altLang="zh-CN" sz="1600" dirty="0"/>
                  <a:t>their performance ratio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𝑷𝑹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600" dirty="0"/>
                  <a:t> means the performance is as good as optimal solution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zh-CN" sz="1600" dirty="0"/>
                  <a:t>The higher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𝑷𝑹</m:t>
                    </m:r>
                  </m:oMath>
                </a14:m>
                <a:r>
                  <a:rPr lang="en-US" altLang="zh-CN" sz="1600" dirty="0"/>
                  <a:t>, the better performance is achieved</a:t>
                </a:r>
              </a:p>
            </p:txBody>
          </p:sp>
        </mc:Choice>
        <mc:Fallback xmlns="">
          <p:sp>
            <p:nvSpPr>
              <p:cNvPr id="9" name="文本占位符 9">
                <a:extLst>
                  <a:ext uri="{FF2B5EF4-FFF2-40B4-BE49-F238E27FC236}">
                    <a16:creationId xmlns:a16="http://schemas.microsoft.com/office/drawing/2014/main" id="{A6957800-733A-4BFA-B820-4DA9D127D4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441555" y="989086"/>
                <a:ext cx="8083609" cy="3669846"/>
              </a:xfrm>
              <a:blipFill>
                <a:blip r:embed="rId2"/>
                <a:stretch>
                  <a:fillRect l="-1433" t="-1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5453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20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Optimal Explicit Routing for All Flows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9">
                <a:extLst>
                  <a:ext uri="{FF2B5EF4-FFF2-40B4-BE49-F238E27FC236}">
                    <a16:creationId xmlns:a16="http://schemas.microsoft.com/office/drawing/2014/main" id="{A6957800-733A-4BFA-B820-4DA9D127D4C8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441555" y="989086"/>
                <a:ext cx="8083609" cy="3669846"/>
              </a:xfrm>
            </p:spPr>
            <p:txBody>
              <a:bodyPr/>
              <a:lstStyle/>
              <a:p>
                <a:r>
                  <a:rPr lang="en-US" altLang="zh-CN" sz="1600" dirty="0"/>
                  <a:t>Given a network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 with a traffic demand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zh-CN" sz="1600" dirty="0"/>
                  <a:t>, the objective is to obtain the best explicit routing ratios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600" dirty="0"/>
                  <a:t> to minimize the MLU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 sz="1600" dirty="0"/>
                  <a:t> in the network</a:t>
                </a:r>
              </a:p>
              <a:p>
                <a:r>
                  <a:rPr lang="en-US" altLang="zh-CN" sz="1600" dirty="0"/>
                  <a:t>This routing problem can be formulated as an optimization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𝒐𝒑𝒕𝒊𝒎𝒂𝒍</m:t>
                        </m:r>
                      </m:sub>
                    </m:sSub>
                  </m:oMath>
                </a14:m>
                <a:r>
                  <a:rPr lang="en-US" altLang="zh-CN" sz="1600" dirty="0"/>
                  <a:t>:</a:t>
                </a:r>
              </a:p>
            </p:txBody>
          </p:sp>
        </mc:Choice>
        <mc:Fallback xmlns="">
          <p:sp>
            <p:nvSpPr>
              <p:cNvPr id="9" name="文本占位符 9">
                <a:extLst>
                  <a:ext uri="{FF2B5EF4-FFF2-40B4-BE49-F238E27FC236}">
                    <a16:creationId xmlns:a16="http://schemas.microsoft.com/office/drawing/2014/main" id="{A6957800-733A-4BFA-B820-4DA9D127D4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441555" y="989086"/>
                <a:ext cx="8083609" cy="3669846"/>
              </a:xfrm>
              <a:blipFill>
                <a:blip r:embed="rId2"/>
                <a:stretch>
                  <a:fillRect l="-1433" t="-1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0AD057E6-60E4-458C-B3F9-8C61C8154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140" y="2071115"/>
            <a:ext cx="5357091" cy="10012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BE2AAC-087E-411D-8BBF-ADD2B2343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140" y="3104214"/>
            <a:ext cx="5515720" cy="188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29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Evaluation Results</a:t>
            </a:r>
            <a:endParaRPr lang="en-US" dirty="0"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5" y="989086"/>
            <a:ext cx="8263718" cy="3669846"/>
          </a:xfrm>
        </p:spPr>
        <p:txBody>
          <a:bodyPr/>
          <a:lstStyle/>
          <a:p>
            <a:r>
              <a:rPr lang="en-US" altLang="zh-CN" sz="1600"/>
              <a:t>Panacea </a:t>
            </a:r>
            <a:r>
              <a:rPr lang="en-US" altLang="zh-CN" sz="1600" dirty="0"/>
              <a:t>can achieve </a:t>
            </a:r>
            <a:r>
              <a:rPr lang="en-US" altLang="zh-CN" sz="1600" dirty="0">
                <a:solidFill>
                  <a:srgbClr val="FF0000"/>
                </a:solidFill>
              </a:rPr>
              <a:t>near-optimal performance</a:t>
            </a:r>
            <a:r>
              <a:rPr lang="en-US" altLang="zh-CN" sz="1600" dirty="0"/>
              <a:t> by rerouting only about </a:t>
            </a:r>
            <a:r>
              <a:rPr lang="en-US" altLang="zh-CN" sz="1600" dirty="0">
                <a:solidFill>
                  <a:srgbClr val="FF0000"/>
                </a:solidFill>
              </a:rPr>
              <a:t>10%</a:t>
            </a:r>
            <a:r>
              <a:rPr lang="en-US" altLang="zh-CN" sz="1600" dirty="0"/>
              <a:t> of </a:t>
            </a:r>
            <a:r>
              <a:rPr lang="en-US" altLang="zh-CN" sz="1600"/>
              <a:t>all flows</a:t>
            </a:r>
          </a:p>
          <a:p>
            <a:r>
              <a:rPr lang="en-US" altLang="zh-CN" sz="1600"/>
              <a:t>Adapt to </a:t>
            </a:r>
            <a:r>
              <a:rPr lang="en-US" altLang="zh-CN" sz="1600">
                <a:highlight>
                  <a:srgbClr val="FFFF00"/>
                </a:highlight>
              </a:rPr>
              <a:t>different failure situations</a:t>
            </a:r>
            <a:r>
              <a:rPr lang="en-US" altLang="zh-CN" sz="1600"/>
              <a:t> and</a:t>
            </a:r>
            <a:r>
              <a:rPr lang="en-US" altLang="zh-CN" sz="1600">
                <a:solidFill>
                  <a:srgbClr val="FF0000"/>
                </a:solidFill>
              </a:rPr>
              <a:t> </a:t>
            </a:r>
            <a:r>
              <a:rPr lang="en-US" altLang="zh-CN" sz="1600">
                <a:highlight>
                  <a:srgbClr val="FFFF00"/>
                </a:highlight>
              </a:rPr>
              <a:t>outperform the heuristics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1709AD1-6FEE-41CC-8910-330B4F1695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4907132"/>
              </p:ext>
            </p:extLst>
          </p:nvPr>
        </p:nvGraphicFramePr>
        <p:xfrm>
          <a:off x="1180028" y="1712551"/>
          <a:ext cx="6570518" cy="3482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2126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Evaluation Results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350C6-9163-4FA1-AAEA-545CA81F4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98" y="737887"/>
            <a:ext cx="6175203" cy="438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31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7082774" y="4803779"/>
            <a:ext cx="1734571" cy="238121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23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Future Works</a:t>
            </a:r>
            <a:endParaRPr lang="en-US" dirty="0"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555" y="989086"/>
            <a:ext cx="8250382" cy="2254427"/>
          </a:xfrm>
        </p:spPr>
        <p:txBody>
          <a:bodyPr/>
          <a:lstStyle/>
          <a:p>
            <a:r>
              <a:rPr lang="en-US" altLang="zh-CN" sz="1600"/>
              <a:t>Increase the size of training set</a:t>
            </a:r>
          </a:p>
          <a:p>
            <a:pPr lvl="1"/>
            <a:r>
              <a:rPr lang="en-US" altLang="zh-CN" sz="1600"/>
              <a:t> For example, use 2016 TMs in one week</a:t>
            </a:r>
          </a:p>
          <a:p>
            <a:r>
              <a:rPr lang="en-US" altLang="zh-CN" sz="1600"/>
              <a:t>Test our scheme on other failure scenarios</a:t>
            </a:r>
          </a:p>
          <a:p>
            <a:pPr lvl="1"/>
            <a:r>
              <a:rPr lang="en-US" altLang="zh-CN" sz="1600"/>
              <a:t> Is it possible to extend our solutions to multiple link failures?</a:t>
            </a:r>
          </a:p>
          <a:p>
            <a:r>
              <a:rPr lang="en-US" altLang="zh-CN" sz="1600"/>
              <a:t>Use a larger network to test the scalability</a:t>
            </a:r>
          </a:p>
          <a:p>
            <a:pPr lvl="1"/>
            <a:r>
              <a:rPr lang="en-US" sz="1600"/>
              <a:t> GEANT network (real traces): 23 nodes, 74 links</a:t>
            </a:r>
          </a:p>
          <a:p>
            <a:pPr lvl="1"/>
            <a:r>
              <a:rPr lang="en-US" sz="1600"/>
              <a:t> Other ROCKETFUEL Topologies (synthesized TM): Ebone, Sprintlink, Tiscali…</a:t>
            </a:r>
          </a:p>
          <a:p>
            <a:pPr lvl="1"/>
            <a:endParaRPr lang="en-US" altLang="zh-CN" sz="16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A5BB9A-083A-470D-A3FE-FB80D31A5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212" y="789052"/>
            <a:ext cx="3351068" cy="11109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2A60CD-97D7-4385-A978-96244EB7D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936" y="3149117"/>
            <a:ext cx="2401450" cy="193013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B30C113-3ECB-434B-9655-63897964F339}"/>
              </a:ext>
            </a:extLst>
          </p:cNvPr>
          <p:cNvSpPr/>
          <p:nvPr/>
        </p:nvSpPr>
        <p:spPr>
          <a:xfrm>
            <a:off x="711396" y="3927064"/>
            <a:ext cx="723540" cy="2616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r>
              <a:rPr lang="en-US" sz="1100" dirty="0"/>
              <a:t>GEANT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F24F30-5EB8-4F4F-9E04-1D08B713B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492" y="3243513"/>
            <a:ext cx="2489502" cy="181846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29D1B99-18CE-46E6-AFF2-A2F781719F33}"/>
              </a:ext>
            </a:extLst>
          </p:cNvPr>
          <p:cNvSpPr/>
          <p:nvPr/>
        </p:nvSpPr>
        <p:spPr>
          <a:xfrm>
            <a:off x="4748549" y="3925556"/>
            <a:ext cx="723540" cy="2616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r>
              <a:rPr lang="en-US" sz="1100"/>
              <a:t>Ebone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76965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D1C6F8-925F-9B47-879E-BD9919BA5D32}" type="datetime1">
              <a:rPr lang="en-US" altLang="en-US" smtClean="0"/>
              <a:t>5/19/2020</a:t>
            </a:fld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6683746" y="4767263"/>
            <a:ext cx="2133600" cy="274637"/>
          </a:xfrm>
        </p:spPr>
        <p:txBody>
          <a:bodyPr/>
          <a:lstStyle/>
          <a:p>
            <a:fld id="{A3D5D3D8-1F29-B74B-B3A0-A1F2C7DC88AC}" type="slidenum">
              <a:rPr lang="en-US" altLang="en-US" smtClean="0"/>
              <a:pPr/>
              <a:t>24</a:t>
            </a:fld>
            <a:endParaRPr lang="en-US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en-US" dirty="0"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A6957800-733A-4BFA-B820-4DA9D127D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0937" y="1006622"/>
            <a:ext cx="7559445" cy="3669846"/>
          </a:xfrm>
        </p:spPr>
        <p:txBody>
          <a:bodyPr/>
          <a:lstStyle/>
          <a:p>
            <a:r>
              <a:rPr lang="en-US" altLang="zh-CN" sz="1600"/>
              <a:t>With an objective of </a:t>
            </a:r>
            <a:r>
              <a:rPr lang="en-US" altLang="zh-CN" sz="1600" u="sng"/>
              <a:t>mitigating network disturbance and improving network performance in resilient networks</a:t>
            </a:r>
            <a:r>
              <a:rPr lang="en-US" altLang="zh-CN" sz="1600"/>
              <a:t>, we propose </a:t>
            </a:r>
            <a:r>
              <a:rPr lang="en-US" altLang="zh-CN" sz="1600" b="1"/>
              <a:t>Panacea</a:t>
            </a:r>
            <a:r>
              <a:rPr lang="en-US" altLang="zh-CN" sz="1600"/>
              <a:t>, an </a:t>
            </a:r>
            <a:r>
              <a:rPr lang="en-US" altLang="zh-CN" sz="1600" b="1"/>
              <a:t>RL-based adaptive TE solution</a:t>
            </a:r>
            <a:r>
              <a:rPr lang="en-US" altLang="zh-CN" sz="1600"/>
              <a:t>.</a:t>
            </a:r>
          </a:p>
          <a:p>
            <a:r>
              <a:rPr lang="en-US" altLang="zh-CN" sz="1600"/>
              <a:t>Panacea </a:t>
            </a:r>
            <a:r>
              <a:rPr lang="en-US" altLang="zh-CN" sz="1600" dirty="0"/>
              <a:t>selects </a:t>
            </a:r>
            <a:r>
              <a:rPr lang="en-US" altLang="zh-CN" sz="1600" dirty="0">
                <a:solidFill>
                  <a:srgbClr val="FF0000"/>
                </a:solidFill>
              </a:rPr>
              <a:t>critical flows </a:t>
            </a:r>
            <a:r>
              <a:rPr lang="en-US" altLang="zh-CN" sz="1600" dirty="0"/>
              <a:t>for each given traffic </a:t>
            </a:r>
            <a:r>
              <a:rPr lang="en-US" altLang="zh-CN" sz="1600"/>
              <a:t>matrix under </a:t>
            </a:r>
            <a:r>
              <a:rPr lang="en-US" altLang="zh-CN" sz="1600">
                <a:solidFill>
                  <a:srgbClr val="FF0000"/>
                </a:solidFill>
              </a:rPr>
              <a:t>different failure situations </a:t>
            </a:r>
            <a:r>
              <a:rPr lang="en-US" altLang="zh-CN" sz="1600"/>
              <a:t>and </a:t>
            </a:r>
            <a:r>
              <a:rPr lang="en-US" altLang="zh-CN" sz="1600" dirty="0"/>
              <a:t>reroutes them to balance link utilization of the network by </a:t>
            </a:r>
            <a:r>
              <a:rPr lang="en-US" altLang="zh-CN" sz="1600"/>
              <a:t>solving a rerouting optimization problem.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Extensive evaluations show </a:t>
            </a:r>
            <a:r>
              <a:rPr lang="en-US" altLang="zh-CN" sz="1600"/>
              <a:t>that Panacea works well for different link failures and outperforms </a:t>
            </a:r>
            <a:r>
              <a:rPr lang="en-US" altLang="zh-CN" sz="1600" dirty="0"/>
              <a:t>the best </a:t>
            </a:r>
            <a:r>
              <a:rPr lang="en-US" altLang="zh-CN" sz="1600"/>
              <a:t>heuristic scheme by an average of </a:t>
            </a:r>
            <a:r>
              <a:rPr lang="en-US" altLang="zh-CN" sz="1600">
                <a:solidFill>
                  <a:srgbClr val="FF0000"/>
                </a:solidFill>
              </a:rPr>
              <a:t>45.54%</a:t>
            </a:r>
            <a:r>
              <a:rPr lang="en-US" altLang="zh-CN" sz="1600"/>
              <a:t> in the extreme case.</a:t>
            </a:r>
          </a:p>
          <a:p>
            <a:pPr>
              <a:lnSpc>
                <a:spcPct val="100000"/>
              </a:lnSpc>
            </a:pPr>
            <a:r>
              <a:rPr lang="en-US" altLang="zh-CN" sz="1600"/>
              <a:t>In addition, Panacea generalizes well to traffic matrices for which it was not explicitly trained.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375717697"/>
      </p:ext>
    </p:extLst>
  </p:cSld>
  <p:clrMapOvr>
    <a:masterClrMapping/>
  </p:clrMapOvr>
</p:sld>
</file>

<file path=ppt/theme/theme1.xml><?xml version="1.0" encoding="utf-8"?>
<a:theme xmlns:a="http://schemas.openxmlformats.org/drawingml/2006/main" name="NYU Schools Master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4BCDA591-17B7-DD4C-8BC0-16E537F664E3}" vid="{5AE9606A-235E-094E-A9A0-66931A79D4AD}"/>
    </a:ext>
  </a:extLst>
</a:theme>
</file>

<file path=ppt/theme/theme2.xml><?xml version="1.0" encoding="utf-8"?>
<a:theme xmlns:a="http://schemas.openxmlformats.org/drawingml/2006/main" name="1_NYU Schools Master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15399</TotalTime>
  <Words>1794</Words>
  <Application>Microsoft Office PowerPoint</Application>
  <PresentationFormat>On-screen Show (16:9)</PresentationFormat>
  <Paragraphs>249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Noto Sans Symbols</vt:lpstr>
      <vt:lpstr>Arial</vt:lpstr>
      <vt:lpstr>Calibri</vt:lpstr>
      <vt:lpstr>Cambria Math</vt:lpstr>
      <vt:lpstr>Courier New</vt:lpstr>
      <vt:lpstr>Wingdings</vt:lpstr>
      <vt:lpstr>NYU Schools Master Template</vt:lpstr>
      <vt:lpstr>1_NYU Schools Master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Billy Kuan-yin Chen</dc:creator>
  <cp:lastModifiedBy>Ye Jack</cp:lastModifiedBy>
  <cp:revision>1164</cp:revision>
  <dcterms:created xsi:type="dcterms:W3CDTF">2016-02-22T02:00:20Z</dcterms:created>
  <dcterms:modified xsi:type="dcterms:W3CDTF">2020-05-22T15:47:19Z</dcterms:modified>
</cp:coreProperties>
</file>